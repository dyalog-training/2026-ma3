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57" r:id="rId2"/>
    <p:sldId id="259" r:id="rId3"/>
    <p:sldId id="258" r:id="rId4"/>
    <p:sldId id="324" r:id="rId5"/>
    <p:sldId id="328" r:id="rId6"/>
    <p:sldId id="280" r:id="rId7"/>
    <p:sldId id="319" r:id="rId8"/>
    <p:sldId id="260" r:id="rId9"/>
    <p:sldId id="261" r:id="rId10"/>
    <p:sldId id="262" r:id="rId11"/>
    <p:sldId id="263" r:id="rId12"/>
    <p:sldId id="268" r:id="rId13"/>
    <p:sldId id="265" r:id="rId14"/>
    <p:sldId id="267" r:id="rId15"/>
    <p:sldId id="264" r:id="rId16"/>
    <p:sldId id="282" r:id="rId17"/>
    <p:sldId id="330" r:id="rId18"/>
    <p:sldId id="331" r:id="rId19"/>
    <p:sldId id="288" r:id="rId20"/>
    <p:sldId id="289" r:id="rId21"/>
    <p:sldId id="266" r:id="rId22"/>
    <p:sldId id="340" r:id="rId23"/>
    <p:sldId id="269" r:id="rId24"/>
    <p:sldId id="293" r:id="rId25"/>
    <p:sldId id="271" r:id="rId26"/>
    <p:sldId id="341" r:id="rId27"/>
    <p:sldId id="273" r:id="rId28"/>
    <p:sldId id="272" r:id="rId29"/>
    <p:sldId id="295" r:id="rId30"/>
    <p:sldId id="320" r:id="rId31"/>
    <p:sldId id="332" r:id="rId32"/>
    <p:sldId id="333" r:id="rId33"/>
    <p:sldId id="334" r:id="rId34"/>
    <p:sldId id="335" r:id="rId35"/>
    <p:sldId id="284" r:id="rId36"/>
    <p:sldId id="321" r:id="rId37"/>
    <p:sldId id="296" r:id="rId38"/>
    <p:sldId id="298" r:id="rId39"/>
    <p:sldId id="299" r:id="rId40"/>
    <p:sldId id="301" r:id="rId41"/>
    <p:sldId id="300" r:id="rId42"/>
    <p:sldId id="302" r:id="rId43"/>
    <p:sldId id="303" r:id="rId44"/>
    <p:sldId id="304" r:id="rId45"/>
    <p:sldId id="305" r:id="rId46"/>
    <p:sldId id="309" r:id="rId47"/>
    <p:sldId id="290" r:id="rId48"/>
    <p:sldId id="276" r:id="rId49"/>
    <p:sldId id="336" r:id="rId50"/>
    <p:sldId id="337" r:id="rId51"/>
    <p:sldId id="292" r:id="rId52"/>
    <p:sldId id="345" r:id="rId53"/>
    <p:sldId id="347" r:id="rId54"/>
    <p:sldId id="310" r:id="rId55"/>
    <p:sldId id="348" r:id="rId56"/>
    <p:sldId id="349" r:id="rId57"/>
    <p:sldId id="277" r:id="rId58"/>
    <p:sldId id="323" r:id="rId59"/>
    <p:sldId id="311" r:id="rId60"/>
    <p:sldId id="312" r:id="rId61"/>
    <p:sldId id="313" r:id="rId62"/>
    <p:sldId id="314" r:id="rId63"/>
    <p:sldId id="339" r:id="rId64"/>
    <p:sldId id="344" r:id="rId65"/>
    <p:sldId id="342" r:id="rId66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69"/>
    </p:embeddedFont>
    <p:embeddedFont>
      <p:font typeface="Sarabun" panose="00000500000000000000" pitchFamily="2" charset="-34"/>
      <p:regular r:id="rId70"/>
      <p:bold r:id="rId71"/>
      <p:italic r:id="rId72"/>
      <p:boldItalic r:id="rId73"/>
    </p:embeddedFont>
    <p:embeddedFont>
      <p:font typeface="Wingdings 2" panose="05020102010507070707" pitchFamily="18" charset="2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2803"/>
    <a:srgbClr val="FF6600"/>
    <a:srgbClr val="5A6D8F"/>
    <a:srgbClr val="3B475E"/>
    <a:srgbClr val="ED7F00"/>
    <a:srgbClr val="FDFDF5"/>
    <a:srgbClr val="F6F6D9"/>
    <a:srgbClr val="BBB5D6"/>
    <a:srgbClr val="928ABD"/>
    <a:srgbClr val="3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87320" autoAdjust="0"/>
  </p:normalViewPr>
  <p:slideViewPr>
    <p:cSldViewPr snapToGrid="0">
      <p:cViewPr varScale="1">
        <p:scale>
          <a:sx n="135" d="100"/>
          <a:sy n="135" d="100"/>
        </p:scale>
        <p:origin x="85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87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NUL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10/10/2026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can do some things simultaneously, but there are dependencies that we have to coordinate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608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for suggestions from the audience</a:t>
            </a:r>
          </a:p>
          <a:p>
            <a:r>
              <a:rPr lang="en-GB" dirty="0"/>
              <a:t>Hiding latency e.g. when service needs to respond</a:t>
            </a:r>
          </a:p>
          <a:p>
            <a:r>
              <a:rPr lang="en-GB" dirty="0"/>
              <a:t>Protection of modules e.g. independent tabs in a 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543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Moore's law – scalability easier with distributed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083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"co-operative" multi-tasking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1116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Sarabun" panose="00000500000000000000" pitchFamily="2" charset="-34"/>
                <a:ea typeface="+mn-ea"/>
                <a:cs typeface="+mn-cs"/>
              </a:rPr>
              <a:t>Demos: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Sarabun" panose="00000500000000000000" pitchFamily="2" charset="-34"/>
                <a:ea typeface="+mn-ea"/>
                <a:cs typeface="+mn-cs"/>
              </a:rPr>
              <a:t>p←1 0 1 0 0 ⊂ {_←⎕DL 10 ⋄ ⎕A[⍵]}IÏ⍳5</a:t>
            </a:r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</a:t>
            </a:r>
            <a:endParaRPr lang="en-GB" sz="1200" kern="1200" dirty="0">
              <a:solidFill>
                <a:schemeClr val="tx1"/>
              </a:solidFill>
              <a:effectLst/>
              <a:latin typeface="Sarabun" panose="00000500000000000000" pitchFamily="2" charset="-34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Sarabun" panose="00000500000000000000" pitchFamily="2" charset="-34"/>
                <a:ea typeface="+mn-ea"/>
                <a:cs typeface="+mn-cs"/>
              </a:rPr>
              <a:t>p←{_←⎕DL 10 ⋄ ⎕A[⍵]}IÏ⍳5</a:t>
            </a:r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</a:t>
            </a:r>
            <a:endParaRPr lang="en-GB" sz="1200" kern="1200" dirty="0">
              <a:solidFill>
                <a:schemeClr val="tx1"/>
              </a:solidFill>
              <a:effectLst/>
              <a:latin typeface="Sarabun" panose="00000500000000000000" pitchFamily="2" charset="-34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Sarabun" panose="00000500000000000000" pitchFamily="2" charset="-34"/>
                <a:ea typeface="+mn-ea"/>
                <a:cs typeface="+mn-cs"/>
              </a:rPr>
              <a:t>p←3⌽{_←⎕DL 10 ⋄ ⎕A[⍵]}IÏ⍳5</a:t>
            </a:r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6081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690-57D6-59AE-79D0-E9E87D71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46847-C478-2197-D8C4-5EB086CF5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C58EA-DE25-9479-F9D7-49A6C4BCD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FIXME line spacing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EEC5D-A9CA-1C38-C4C3-89F406EDF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3747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DB17-2B70-4FF6-DB67-2EA9B328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786FE-84EA-188E-64ED-9FB3E1DF6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22FF5-4FF4-14BB-C280-DA253E68F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FIXME line spacing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F9BDE-6ABE-C340-96EC-ABBF08555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000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FIXME HTTP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190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Multiple independent computations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9714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E2BA-2D13-220D-F8BA-B869C615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8F3A3-405B-0B6C-DEFC-31A652F98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FF44C-A3B9-B463-7869-1ABC2170A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Multiple independent computations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54C5-4E77-34B6-3290-ECCB702C7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443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8880-142C-9501-A972-E351992D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F98AA-42BF-8380-EAD2-B87849942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1825A-70A8-364C-D879-0EE7FEC35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574CC-5E5D-5688-E8A0-17F4D401E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440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DAA1-662E-7BDF-563F-1179F733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126F1-6980-D490-BD9A-CDD3369F3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016A8-406D-FD77-2968-4486BD5D7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Isolates can make Windows popup asking permission</a:t>
            </a:r>
          </a:p>
          <a:p>
            <a:r>
              <a:rPr lang="en-GB" dirty="0"/>
              <a:t>Isolate uses runtime 'terp by default, but configurable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72D1-1658-E3D1-762B-BFF370CD7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326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D1C8-60AB-D991-A9C3-9F291EDF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CED92-8803-8AFB-7DD4-7A0CECD4A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52643-7DD1-26EC-1206-7DBBD9530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EC7D2-2596-0A7D-C84B-CC949605E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912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FIXME maybe hide these, too much info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349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Sarabun" panose="00000500000000000000" pitchFamily="2" charset="-34"/>
                <a:ea typeface="+mn-ea"/>
                <a:cs typeface="+mn-cs"/>
              </a:rPr>
              <a:t>G←0 ⋄ Increment¨4⍴2e5 ⋄ G</a:t>
            </a:r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Sarabun" panose="00000500000000000000" pitchFamily="2" charset="-34"/>
                <a:ea typeface="+mn-ea"/>
                <a:cs typeface="+mn-cs"/>
              </a:rPr>
              <a:t>G←0 ⋄ ⎕TSYNC Increment&amp;¨4⍴2e5 ⋄ G</a:t>
            </a:r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2 methods to synchronise access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 :Hold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Sarabun" panose="00000500000000000000" pitchFamily="2" charset="-34"/>
                <a:ea typeface="+mn-ea"/>
                <a:cs typeface="+mn-cs"/>
              </a:rPr>
              <a:t>  Put on one line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9513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to Neil, Peter, Rich, Aaron about concurrency &amp; multithreading with Dyalog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64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16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45060" y="577889"/>
            <a:ext cx="2186609" cy="734076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2228C3-8F95-166E-8A09-DC52EB61BD50}"/>
              </a:ext>
            </a:extLst>
          </p:cNvPr>
          <p:cNvSpPr/>
          <p:nvPr userDrawn="1"/>
        </p:nvSpPr>
        <p:spPr>
          <a:xfrm>
            <a:off x="72887" y="4813353"/>
            <a:ext cx="372173" cy="234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3804001-4A52-A7FB-FC2A-F450E7C6EB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3349" y="1961586"/>
            <a:ext cx="2343568" cy="234356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9ED9E2-3219-F619-9BA3-FFB47D247704}"/>
              </a:ext>
            </a:extLst>
          </p:cNvPr>
          <p:cNvSpPr/>
          <p:nvPr userDrawn="1"/>
        </p:nvSpPr>
        <p:spPr>
          <a:xfrm>
            <a:off x="7678522" y="4583477"/>
            <a:ext cx="1273321" cy="464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2EFF5-B5C4-29F2-5FBE-E79CCD7FC086}"/>
              </a:ext>
            </a:extLst>
          </p:cNvPr>
          <p:cNvSpPr/>
          <p:nvPr userDrawn="1"/>
        </p:nvSpPr>
        <p:spPr>
          <a:xfrm>
            <a:off x="1159566" y="4813352"/>
            <a:ext cx="6155634" cy="234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373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88989"/>
            <a:ext cx="8511554" cy="3017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A13"/>
              </a:buClr>
              <a:defRPr/>
            </a:lvl1pPr>
            <a:lvl2pPr>
              <a:spcBef>
                <a:spcPts val="0"/>
              </a:spcBef>
              <a:buClr>
                <a:srgbClr val="FF6A13"/>
              </a:buClr>
              <a:defRPr/>
            </a:lvl2pPr>
            <a:lvl3pPr>
              <a:spcBef>
                <a:spcPts val="0"/>
              </a:spcBef>
              <a:buClr>
                <a:srgbClr val="FF6A13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24709DA-7321-C012-5950-141DDACE71D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716475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buClr>
                <a:srgbClr val="FF6A13"/>
              </a:buClr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Concurrent Programming in Dyalog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99513" y="4665641"/>
            <a:ext cx="1152387" cy="3868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B9ED5D-5652-ECE7-BCC6-63EFE93D812C}"/>
              </a:ext>
            </a:extLst>
          </p:cNvPr>
          <p:cNvCxnSpPr>
            <a:cxnSpLocks/>
          </p:cNvCxnSpPr>
          <p:nvPr userDrawn="1"/>
        </p:nvCxnSpPr>
        <p:spPr>
          <a:xfrm>
            <a:off x="0" y="5119690"/>
            <a:ext cx="91440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A13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A13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A13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A13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yalog.com/20.0/language-reference-guide/system-functions/system-functions-by-category/#synchronisation" TargetMode="External"/><Relationship Id="rId2" Type="http://schemas.openxmlformats.org/officeDocument/2006/relationships/hyperlink" Target="https://docs.dyalog.com/20.0/language-reference-guide/system-functions/system-functions-by-category/#thre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dyalog.com/20.0/programming-reference-guide/threads/thread-switching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yalog-training/2026-MA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yalog-training/2026-MA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feedback.dyalo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Concurrent Programming in Dyalog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Rich Park, Stefan Kruger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88215-F443-BBEC-7C51-B7954C9D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introduction</a:t>
            </a:r>
          </a:p>
          <a:p>
            <a:r>
              <a:rPr lang="en-GB" dirty="0"/>
              <a:t>Some discussion</a:t>
            </a:r>
          </a:p>
          <a:p>
            <a:r>
              <a:rPr lang="en-GB" dirty="0"/>
              <a:t>Some exercises</a:t>
            </a:r>
          </a:p>
          <a:p>
            <a:r>
              <a:rPr lang="en-GB" dirty="0"/>
              <a:t>Not comprehensive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AD914C-2AD4-60CC-1985-65A5555C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workshop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5D75FC6E-57E5-012E-5ABC-62B238B5B31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00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D2D84-2E79-6B08-4D98-3B8EE2ED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Doing too many things together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071F3E-622E-252D-E3F9-F5F9473C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Concurrency &amp; Parallelism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A483F8B-C782-6352-AEC7-83A158CAD45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82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5DB0C-D3BF-FF6F-055E-6DB66862F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88989"/>
            <a:ext cx="8366660" cy="3184611"/>
          </a:xfrm>
        </p:spPr>
        <p:txBody>
          <a:bodyPr wrap="square" bIns="144000" numCol="2" spcCol="144000">
            <a:noAutofit/>
          </a:bodyPr>
          <a:lstStyle/>
          <a:p>
            <a:pPr>
              <a:buFont typeface="+mj-lt"/>
              <a:buAutoNum type="arabicPeriod"/>
            </a:pPr>
            <a:r>
              <a:rPr lang="en-GB" sz="1700" dirty="0"/>
              <a:t>Into one bowl</a:t>
            </a:r>
          </a:p>
          <a:p>
            <a:pPr lvl="1">
              <a:buFont typeface="+mj-lt"/>
              <a:buAutoNum type="arabicPeriod"/>
            </a:pPr>
            <a:r>
              <a:rPr lang="en-GB" sz="1700" dirty="0"/>
              <a:t>Add flour</a:t>
            </a:r>
          </a:p>
          <a:p>
            <a:pPr lvl="1">
              <a:buFont typeface="+mj-lt"/>
              <a:buAutoNum type="arabicPeriod"/>
            </a:pPr>
            <a:r>
              <a:rPr lang="en-GB" sz="1700" dirty="0"/>
              <a:t>Add sugar</a:t>
            </a:r>
          </a:p>
          <a:p>
            <a:pPr lvl="1">
              <a:buFont typeface="+mj-lt"/>
              <a:buAutoNum type="arabicPeriod"/>
            </a:pPr>
            <a:r>
              <a:rPr lang="en-GB" sz="1700" dirty="0"/>
              <a:t>Add salt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Into another bowl</a:t>
            </a:r>
          </a:p>
          <a:p>
            <a:pPr lvl="1">
              <a:buFont typeface="+mj-lt"/>
              <a:buAutoNum type="arabicPeriod"/>
            </a:pPr>
            <a:r>
              <a:rPr lang="en-GB" sz="1700" dirty="0"/>
              <a:t>Add milk</a:t>
            </a:r>
          </a:p>
          <a:p>
            <a:pPr lvl="1">
              <a:buFont typeface="+mj-lt"/>
              <a:buAutoNum type="arabicPeriod"/>
            </a:pPr>
            <a:r>
              <a:rPr lang="en-GB" sz="1700" dirty="0"/>
              <a:t>Add egg</a:t>
            </a:r>
          </a:p>
          <a:p>
            <a:pPr lvl="1">
              <a:buFont typeface="+mj-lt"/>
              <a:buAutoNum type="arabicPeriod"/>
            </a:pPr>
            <a:r>
              <a:rPr lang="en-GB" sz="1700" dirty="0"/>
              <a:t>Add melted butter</a:t>
            </a:r>
            <a:br>
              <a:rPr lang="en-GB" sz="1700" dirty="0"/>
            </a:br>
            <a:endParaRPr lang="en-GB" sz="1700" dirty="0"/>
          </a:p>
          <a:p>
            <a:pPr lvl="1">
              <a:buFont typeface="+mj-lt"/>
              <a:buAutoNum type="arabicPeriod"/>
            </a:pPr>
            <a:endParaRPr lang="en-GB" sz="1700" dirty="0"/>
          </a:p>
          <a:p>
            <a:pPr>
              <a:buFont typeface="+mj-lt"/>
              <a:buAutoNum type="arabicPeriod"/>
            </a:pPr>
            <a:r>
              <a:rPr lang="en-GB" sz="1700" dirty="0"/>
              <a:t>Mix wet and dry ingredients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Add butter to hot pan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Add batter to hot pan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Remove pancake from hot pan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Eat</a:t>
            </a:r>
          </a:p>
          <a:p>
            <a:pPr>
              <a:buFont typeface="+mj-lt"/>
              <a:buAutoNum type="arabicPeriod"/>
            </a:pPr>
            <a:endParaRPr lang="en-GB" sz="1700" dirty="0"/>
          </a:p>
          <a:p>
            <a:pPr>
              <a:buFont typeface="+mj-lt"/>
              <a:buAutoNum type="arabicPeriod"/>
            </a:pPr>
            <a:endParaRPr lang="en-GB" sz="1700" dirty="0"/>
          </a:p>
          <a:p>
            <a:pPr>
              <a:buFont typeface="+mj-lt"/>
              <a:buAutoNum type="arabicPeriod"/>
            </a:pPr>
            <a:endParaRPr lang="en-GB" sz="1700" dirty="0"/>
          </a:p>
          <a:p>
            <a:endParaRPr lang="en-GB" sz="17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E35F2-3FF3-9828-8BC7-C9D67224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Recipe ≈ algorithm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CF16DE3-5880-2C5C-1BF0-17E0E607B42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96E0E-0994-C22D-6260-A43DE091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D4D4AC-BE56-48B9-F9BB-0907CE039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9" y="1474474"/>
            <a:ext cx="8366660" cy="3184611"/>
          </a:xfrm>
        </p:spPr>
        <p:txBody>
          <a:bodyPr wrap="square" bIns="144000" numCol="2" spcCol="144000">
            <a:noAutofit/>
          </a:bodyPr>
          <a:lstStyle/>
          <a:p>
            <a:pPr>
              <a:buFont typeface="+mj-lt"/>
              <a:buAutoNum type="arabicPeriod"/>
            </a:pPr>
            <a:r>
              <a:rPr lang="en-GB" sz="1700" dirty="0"/>
              <a:t>Add wet, dry separately</a:t>
            </a:r>
          </a:p>
          <a:p>
            <a:pPr lvl="1"/>
            <a:r>
              <a:rPr lang="en-GB" sz="1700" dirty="0"/>
              <a:t>Into another bowl add flour, sugar, salt</a:t>
            </a:r>
          </a:p>
          <a:p>
            <a:pPr lvl="1"/>
            <a:r>
              <a:rPr lang="en-GB" sz="1700" dirty="0"/>
              <a:t>Into another bowl add milk, egg, melted butter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Mix wet and dry ingredients</a:t>
            </a:r>
          </a:p>
          <a:p>
            <a:pPr lvl="1"/>
            <a:r>
              <a:rPr lang="en-GB" sz="1700" dirty="0"/>
              <a:t>Add butter to hot pan</a:t>
            </a:r>
          </a:p>
          <a:p>
            <a:pPr lvl="1"/>
            <a:r>
              <a:rPr lang="en-GB" sz="1700" dirty="0"/>
              <a:t>Mix wet and dry ingredients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Add batter to hot pan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Remove pancake from hot pan</a:t>
            </a:r>
          </a:p>
          <a:p>
            <a:pPr>
              <a:buFont typeface="+mj-lt"/>
              <a:buAutoNum type="arabicPeriod"/>
            </a:pPr>
            <a:r>
              <a:rPr lang="en-GB" sz="1700" dirty="0"/>
              <a:t>Eat</a:t>
            </a:r>
          </a:p>
          <a:p>
            <a:pPr>
              <a:buFont typeface="+mj-lt"/>
              <a:buAutoNum type="arabicPeriod"/>
            </a:pPr>
            <a:endParaRPr lang="en-GB" sz="1700" dirty="0"/>
          </a:p>
          <a:p>
            <a:pPr>
              <a:buFont typeface="+mj-lt"/>
              <a:buAutoNum type="arabicPeriod"/>
            </a:pPr>
            <a:endParaRPr lang="en-GB" sz="1700" dirty="0"/>
          </a:p>
          <a:p>
            <a:pPr>
              <a:buFont typeface="+mj-lt"/>
              <a:buAutoNum type="arabicPeriod"/>
            </a:pPr>
            <a:endParaRPr lang="en-GB" sz="1700" dirty="0"/>
          </a:p>
          <a:p>
            <a:endParaRPr lang="en-GB" sz="17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C2DC2-CB42-AEB8-6B54-4FF85C4E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Recipe ≈ algorithm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D9F14C6-698C-78B8-6DCB-4F37F2AFAC9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01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96BB4E-1AA3-414E-63A8-02417DB6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"Concurrency is about handling asynchronous, non-deterministic events. Parallelism is about using hardware resources to do more computations at the same time."</a:t>
            </a:r>
          </a:p>
          <a:p>
            <a:pPr marL="0" indent="0">
              <a:buNone/>
            </a:pPr>
            <a:r>
              <a:rPr lang="en-GB" dirty="0"/>
              <a:t>	- some guy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C254C-93D7-B63C-0653-3DAA467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Concurrency vs Parallelism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93A62C1-D685-9129-D87A-0A73BBDAD1E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73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6AE9-37DC-7E4E-67DE-6D1F31BE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6DE6A1-3A1D-85A7-EBAD-2F3D7F94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"Concurrency is about </a:t>
            </a:r>
            <a:r>
              <a:rPr lang="en-GB" b="1" dirty="0"/>
              <a:t>dealing with </a:t>
            </a:r>
            <a:r>
              <a:rPr lang="en-GB" dirty="0"/>
              <a:t>lots of things at once. Parallelism is about </a:t>
            </a:r>
            <a:r>
              <a:rPr lang="en-GB" b="1" dirty="0"/>
              <a:t>doing </a:t>
            </a:r>
            <a:r>
              <a:rPr lang="en-GB" dirty="0"/>
              <a:t>lots of things at once."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- Rob Pike, </a:t>
            </a:r>
            <a:r>
              <a:rPr lang="en-GB" i="1" dirty="0"/>
              <a:t>Concurrency is not Parallelism (2012)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BE057-CAB1-719D-EE73-90988715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Concurrency vs Parallelism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B9B65E5-20C2-8D0C-1DF2-2068BFBC29B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27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D45A-A26D-804C-3DF9-0B617BEF3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Understand the difference between green threads and OS threads</a:t>
            </a:r>
          </a:p>
          <a:p>
            <a:r>
              <a:rPr lang="en-GB" dirty="0"/>
              <a:t>Know how to assess performance trade-offs when considering concurrency implementation</a:t>
            </a:r>
          </a:p>
          <a:p>
            <a:r>
              <a:rPr lang="en-GB" dirty="0"/>
              <a:t>Know when threads switch in running Dyalog programs</a:t>
            </a:r>
          </a:p>
          <a:p>
            <a:r>
              <a:rPr lang="en-GB" dirty="0"/>
              <a:t>Know how locking mechanisms can be used to safely manage shared resources in multithreaded programs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EFD8D0-05EF-9FD6-D71B-768BD37D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181890B8-D0CC-B7CD-912F-6D1D437A8A1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179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51B85-29F5-00F3-C1AC-4182ED092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computations are independent</a:t>
            </a:r>
          </a:p>
          <a:p>
            <a:r>
              <a:rPr lang="en-GB" dirty="0"/>
              <a:t>To hide latency</a:t>
            </a:r>
          </a:p>
          <a:p>
            <a:r>
              <a:rPr lang="en-GB" dirty="0"/>
              <a:t>Protection of modular systems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DFB07A-2319-2096-B4C1-85A914A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do we want concurrency?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BFFCCBF-4F60-02C3-49D2-C4BBEE02BEC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A7117-95C4-F83C-6FDB-9B089095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Never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50856F-936E-09A9-BD00-5D6C9C03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997268"/>
          </a:xfrm>
        </p:spPr>
        <p:txBody>
          <a:bodyPr/>
          <a:lstStyle/>
          <a:p>
            <a:r>
              <a:rPr lang="en-GB" dirty="0"/>
              <a:t>When do we want to implement concurrency?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A36F43A7-282B-1216-4B3C-CA3B8F4175C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31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ED48-C2B9-AE81-3AAE-D468D1F4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2158" cy="3242040"/>
          </a:xfrm>
        </p:spPr>
        <p:txBody>
          <a:bodyPr>
            <a:normAutofit/>
          </a:bodyPr>
          <a:lstStyle/>
          <a:p>
            <a:r>
              <a:rPr lang="en-GB" dirty="0"/>
              <a:t>AKA </a:t>
            </a:r>
            <a:r>
              <a:rPr lang="en-GB" i="1" dirty="0"/>
              <a:t>APL Threads</a:t>
            </a:r>
          </a:p>
          <a:p>
            <a:r>
              <a:rPr lang="en-GB" dirty="0"/>
              <a:t>Spawn operator (</a:t>
            </a:r>
            <a:r>
              <a:rPr lang="en-GB" dirty="0">
                <a:latin typeface="APL385 Unicode" panose="020B0709000202000203" pitchFamily="49" charset="0"/>
              </a:rPr>
              <a:t>F&amp;</a:t>
            </a:r>
            <a:r>
              <a:rPr lang="en-GB" dirty="0"/>
              <a:t>)</a:t>
            </a:r>
          </a:p>
          <a:p>
            <a:r>
              <a:rPr lang="en-GB" dirty="0"/>
              <a:t>Thread management (</a:t>
            </a:r>
            <a:r>
              <a:rPr lang="en-GB" dirty="0">
                <a:latin typeface="APL385 Unicode" panose="020B0709000202000203" pitchFamily="49" charset="0"/>
                <a:hlinkClick r:id="rId2"/>
              </a:rPr>
              <a:t>⎕TID</a:t>
            </a:r>
            <a:r>
              <a:rPr lang="en-GB" dirty="0">
                <a:hlinkClick r:id="rId2"/>
              </a:rPr>
              <a:t>, </a:t>
            </a:r>
            <a:r>
              <a:rPr lang="en-GB" dirty="0">
                <a:latin typeface="APL385 Unicode" panose="020B0709000202000203" pitchFamily="49" charset="0"/>
                <a:hlinkClick r:id="rId2"/>
              </a:rPr>
              <a:t>⎕TSYNC,⎕TKILL</a:t>
            </a:r>
            <a:r>
              <a:rPr lang="en-GB" dirty="0">
                <a:hlinkClick r:id="rId2"/>
              </a:rPr>
              <a:t> etc.</a:t>
            </a:r>
            <a:r>
              <a:rPr lang="en-GB" dirty="0"/>
              <a:t>)</a:t>
            </a:r>
          </a:p>
          <a:p>
            <a:r>
              <a:rPr lang="en-GB" dirty="0"/>
              <a:t>Token pool (</a:t>
            </a:r>
            <a:r>
              <a:rPr lang="en-GB" dirty="0">
                <a:latin typeface="APL385 Unicode" panose="020B0709000202000203" pitchFamily="49" charset="0"/>
                <a:hlinkClick r:id="rId3"/>
              </a:rPr>
              <a:t>⎕TALLOC</a:t>
            </a:r>
            <a:r>
              <a:rPr lang="en-GB" dirty="0">
                <a:hlinkClick r:id="rId3"/>
              </a:rPr>
              <a:t>, </a:t>
            </a:r>
            <a:r>
              <a:rPr lang="en-GB" dirty="0">
                <a:latin typeface="APL385 Unicode" panose="020B0709000202000203" pitchFamily="49" charset="0"/>
                <a:hlinkClick r:id="rId3"/>
              </a:rPr>
              <a:t>⎕TGET</a:t>
            </a:r>
            <a:r>
              <a:rPr lang="en-GB" dirty="0">
                <a:hlinkClick r:id="rId3"/>
              </a:rPr>
              <a:t>, </a:t>
            </a:r>
            <a:r>
              <a:rPr lang="en-GB" dirty="0">
                <a:latin typeface="APL385 Unicode" panose="020B0709000202000203" pitchFamily="49" charset="0"/>
                <a:hlinkClick r:id="rId3"/>
              </a:rPr>
              <a:t>⎕TPUT</a:t>
            </a:r>
            <a:r>
              <a:rPr lang="en-GB" dirty="0">
                <a:hlinkClick r:id="rId3"/>
              </a:rPr>
              <a:t> etc.</a:t>
            </a:r>
            <a:r>
              <a:rPr lang="en-GB" dirty="0"/>
              <a:t>)</a:t>
            </a:r>
          </a:p>
          <a:p>
            <a:r>
              <a:rPr lang="en-GB" dirty="0">
                <a:hlinkClick r:id="rId4"/>
              </a:rPr>
              <a:t>Thread switching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13C5FB-F1AC-3C5D-0663-81AC5304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Green Threads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CAAF1FC-7BCD-01AF-BF0A-E9243EBF0CD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4660-A6EC-591B-45D8-0E8CE405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26820"/>
            <a:ext cx="8511554" cy="3280145"/>
          </a:xfrm>
        </p:spPr>
        <p:txBody>
          <a:bodyPr/>
          <a:lstStyle/>
          <a:p>
            <a:r>
              <a:rPr lang="en-GB" dirty="0"/>
              <a:t>Run in the same OS process</a:t>
            </a:r>
          </a:p>
          <a:p>
            <a:r>
              <a:rPr lang="en-GB" dirty="0"/>
              <a:t>"time share"</a:t>
            </a:r>
          </a:p>
          <a:p>
            <a:r>
              <a:rPr lang="en-GB" dirty="0">
                <a:latin typeface="APL385 Unicode" panose="020B0709000202000203" pitchFamily="49" charset="0"/>
              </a:rPr>
              <a:t>R ← </a:t>
            </a:r>
            <a:r>
              <a:rPr lang="en-GB" dirty="0" err="1">
                <a:latin typeface="APL385 Unicode" panose="020B0709000202000203" pitchFamily="49" charset="0"/>
              </a:rPr>
              <a:t>F&amp;arg</a:t>
            </a:r>
            <a:r>
              <a:rPr lang="en-GB" dirty="0"/>
              <a:t>   	R is a thread ID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F62F7E-FCCC-7387-A424-23113CB6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Green Threads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8EB8D27E-AEB1-71AD-C9F4-852E520F93D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813AA8F-87F7-C17F-E82C-F5AA6A6E326E}"/>
              </a:ext>
            </a:extLst>
          </p:cNvPr>
          <p:cNvSpPr/>
          <p:nvPr/>
        </p:nvSpPr>
        <p:spPr>
          <a:xfrm>
            <a:off x="1818780" y="2715098"/>
            <a:ext cx="6231916" cy="745784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AD5CAF-B8F9-8E1E-F208-C79A84C02418}"/>
              </a:ext>
            </a:extLst>
          </p:cNvPr>
          <p:cNvSpPr/>
          <p:nvPr/>
        </p:nvSpPr>
        <p:spPr>
          <a:xfrm>
            <a:off x="1818780" y="3623787"/>
            <a:ext cx="6231916" cy="74578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6B9EA-D902-E8DA-D2E2-C31AB3DC32A7}"/>
              </a:ext>
            </a:extLst>
          </p:cNvPr>
          <p:cNvSpPr txBox="1"/>
          <p:nvPr/>
        </p:nvSpPr>
        <p:spPr>
          <a:xfrm>
            <a:off x="367830" y="2903324"/>
            <a:ext cx="145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Thread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4E53-74A8-9522-19E5-CCB8E8AC41E7}"/>
              </a:ext>
            </a:extLst>
          </p:cNvPr>
          <p:cNvSpPr txBox="1"/>
          <p:nvPr/>
        </p:nvSpPr>
        <p:spPr>
          <a:xfrm>
            <a:off x="367830" y="3808453"/>
            <a:ext cx="145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Thread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E304E-D9EE-5D77-5E76-3FE46686498C}"/>
              </a:ext>
            </a:extLst>
          </p:cNvPr>
          <p:cNvSpPr/>
          <p:nvPr/>
        </p:nvSpPr>
        <p:spPr>
          <a:xfrm>
            <a:off x="2599617" y="2903324"/>
            <a:ext cx="110332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61711-0CA4-9BE5-3B59-5A8586973D09}"/>
              </a:ext>
            </a:extLst>
          </p:cNvPr>
          <p:cNvSpPr/>
          <p:nvPr/>
        </p:nvSpPr>
        <p:spPr>
          <a:xfrm>
            <a:off x="3702942" y="3811488"/>
            <a:ext cx="78083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3A1CF-7D2D-5541-C7B7-8342B35B6451}"/>
              </a:ext>
            </a:extLst>
          </p:cNvPr>
          <p:cNvSpPr/>
          <p:nvPr/>
        </p:nvSpPr>
        <p:spPr>
          <a:xfrm>
            <a:off x="4483780" y="2903324"/>
            <a:ext cx="579428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C6FAB-D592-163E-2A35-6390B98E3424}"/>
              </a:ext>
            </a:extLst>
          </p:cNvPr>
          <p:cNvSpPr/>
          <p:nvPr/>
        </p:nvSpPr>
        <p:spPr>
          <a:xfrm>
            <a:off x="1826338" y="3808453"/>
            <a:ext cx="77328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E426E1-52A0-B237-1F45-BF0312C596C4}"/>
              </a:ext>
            </a:extLst>
          </p:cNvPr>
          <p:cNvSpPr/>
          <p:nvPr/>
        </p:nvSpPr>
        <p:spPr>
          <a:xfrm>
            <a:off x="5063207" y="3808453"/>
            <a:ext cx="137537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46572-82F7-A2F1-C866-59E58AC020AE}"/>
              </a:ext>
            </a:extLst>
          </p:cNvPr>
          <p:cNvSpPr/>
          <p:nvPr/>
        </p:nvSpPr>
        <p:spPr>
          <a:xfrm>
            <a:off x="6438585" y="2903324"/>
            <a:ext cx="123179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55B907-F2EB-6B00-F249-525FAFCC34BA}"/>
              </a:ext>
            </a:extLst>
          </p:cNvPr>
          <p:cNvCxnSpPr>
            <a:cxnSpLocks/>
          </p:cNvCxnSpPr>
          <p:nvPr/>
        </p:nvCxnSpPr>
        <p:spPr>
          <a:xfrm>
            <a:off x="2599617" y="3288030"/>
            <a:ext cx="0" cy="5204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99275B-D079-ACAD-5C49-11E4DD1FC666}"/>
              </a:ext>
            </a:extLst>
          </p:cNvPr>
          <p:cNvCxnSpPr>
            <a:cxnSpLocks/>
          </p:cNvCxnSpPr>
          <p:nvPr/>
        </p:nvCxnSpPr>
        <p:spPr>
          <a:xfrm flipV="1">
            <a:off x="3702942" y="3288030"/>
            <a:ext cx="0" cy="5204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C29359-D446-03A7-5A8B-1B40965A1696}"/>
              </a:ext>
            </a:extLst>
          </p:cNvPr>
          <p:cNvCxnSpPr>
            <a:cxnSpLocks/>
          </p:cNvCxnSpPr>
          <p:nvPr/>
        </p:nvCxnSpPr>
        <p:spPr>
          <a:xfrm>
            <a:off x="4483779" y="3288030"/>
            <a:ext cx="0" cy="5204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7FF152-122F-BBB5-331F-0940081C453D}"/>
              </a:ext>
            </a:extLst>
          </p:cNvPr>
          <p:cNvCxnSpPr>
            <a:cxnSpLocks/>
          </p:cNvCxnSpPr>
          <p:nvPr/>
        </p:nvCxnSpPr>
        <p:spPr>
          <a:xfrm flipV="1">
            <a:off x="5068944" y="3288030"/>
            <a:ext cx="0" cy="5204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8A7E82-D261-DA35-C08E-3EDEED9584A2}"/>
              </a:ext>
            </a:extLst>
          </p:cNvPr>
          <p:cNvCxnSpPr>
            <a:cxnSpLocks/>
          </p:cNvCxnSpPr>
          <p:nvPr/>
        </p:nvCxnSpPr>
        <p:spPr>
          <a:xfrm>
            <a:off x="6438584" y="3288030"/>
            <a:ext cx="0" cy="5204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2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9C82-8437-18F8-A498-8C9F9965C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Workspace </a:t>
            </a:r>
            <a:r>
              <a:rPr lang="en-GB" dirty="0" err="1"/>
              <a:t>isolate.dws</a:t>
            </a:r>
            <a:endParaRPr lang="en-GB" dirty="0"/>
          </a:p>
          <a:p>
            <a:r>
              <a:rPr lang="en-GB" dirty="0"/>
              <a:t>Execute code in a separate process</a:t>
            </a:r>
          </a:p>
          <a:p>
            <a:r>
              <a:rPr lang="en-GB" dirty="0"/>
              <a:t>Models: </a:t>
            </a:r>
          </a:p>
          <a:p>
            <a:pPr lvl="1"/>
            <a:r>
              <a:rPr lang="en-GB" dirty="0">
                <a:latin typeface="APL385 Unicode" panose="020B0709000202000203" pitchFamily="49" charset="0"/>
              </a:rPr>
              <a:t>II (∥)</a:t>
            </a:r>
          </a:p>
          <a:p>
            <a:pPr lvl="1"/>
            <a:r>
              <a:rPr lang="en-GB" dirty="0">
                <a:latin typeface="APL385 Unicode" panose="020B0709000202000203" pitchFamily="49" charset="0"/>
              </a:rPr>
              <a:t>IÏ (∥¨)</a:t>
            </a:r>
          </a:p>
          <a:p>
            <a:r>
              <a:rPr lang="en-GB" dirty="0">
                <a:latin typeface="APL385 Unicode" panose="020B0709000202000203" pitchFamily="49" charset="0"/>
              </a:rPr>
              <a:t>R ← F II </a:t>
            </a:r>
            <a:r>
              <a:rPr lang="en-GB" dirty="0" err="1">
                <a:latin typeface="APL385 Unicode" panose="020B0709000202000203" pitchFamily="49" charset="0"/>
              </a:rPr>
              <a:t>arg</a:t>
            </a:r>
            <a:r>
              <a:rPr lang="en-GB" dirty="0"/>
              <a:t>   		R is a "future"</a:t>
            </a:r>
          </a:p>
          <a:p>
            <a:r>
              <a:rPr lang="en-GB" dirty="0"/>
              <a:t>Futures: mysterious "not yet" values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7DAEB-AE9E-11F5-3507-67C4DC92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Futures and Isolates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A8F947C4-13CE-D498-6FC9-D42E6A0AA76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08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221D-D933-33C1-6454-9BC04D2A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Reverse proxy pattern</a:t>
            </a:r>
          </a:p>
          <a:p>
            <a:r>
              <a:rPr lang="en-GB" dirty="0"/>
              <a:t>Shared state via databases, cache layers, streaming layers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02064A-72FF-8B26-E54C-09CC802C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Industry Standard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1FC74F26-2E5F-A919-7D23-3C9049769F0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87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8F7B-ECD3-DD57-17C0-88D405CD5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Channels, buses, semaphores, fairness</a:t>
            </a:r>
          </a:p>
          <a:p>
            <a:r>
              <a:rPr lang="en-GB" dirty="0"/>
              <a:t>Coffman conditions, </a:t>
            </a:r>
            <a:r>
              <a:rPr lang="en-GB" dirty="0" err="1"/>
              <a:t>Owicki</a:t>
            </a:r>
            <a:r>
              <a:rPr lang="en-GB" dirty="0"/>
              <a:t>-Gries, Petri nets</a:t>
            </a:r>
          </a:p>
          <a:p>
            <a:r>
              <a:rPr lang="en-GB" dirty="0"/>
              <a:t>.NET Tasks</a:t>
            </a:r>
          </a:p>
          <a:p>
            <a:r>
              <a:rPr lang="en-GB" dirty="0"/>
              <a:t>nginx, proxies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A10D99-FF06-C655-5DA1-36BC7A8B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FFACFCB-14E6-B638-C306-5322509DE2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685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A429CE-291B-8724-A659-FBAE75E39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  <a:p>
            <a:r>
              <a:rPr lang="en-GB" dirty="0"/>
              <a:t>Thread safety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33F61C-1F3E-3A42-9229-3AFF1788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FCD9B18-1D6B-AD5A-4B52-AC6225B73AF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415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5891-B625-BC72-D7B3-829802384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A80725-B5C6-15F4-C55F-38F93A5D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      #.⎕CY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'isolate'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my_future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DoThing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APL385 Unicode" panose="020B0709000202000203" pitchFamily="49" charset="0"/>
              </a:rPr>
              <a:t>#.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II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arg</a:t>
            </a:r>
            <a:endParaRPr lang="en-GB" dirty="0">
              <a:solidFill>
                <a:srgbClr val="00000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my_future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  ⍝ block until ready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result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E3DF37-B213-1A5E-CB92-D45D52C3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of Concurrent Calls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8B341EF-E6FD-2AB7-4FC9-973C2B06F55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13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FADC-5326-D325-8C6B-06006B6E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628255-3450-227F-F75A-AD43D1516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      #.⎕CY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'isolate'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     default </a:t>
            </a:r>
            <a:r>
              <a:rPr lang="en-GB" dirty="0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latin typeface="APL385 Unicode" panose="020B0709000202000203" pitchFamily="49" charset="0"/>
              </a:rPr>
              <a:t>'NOT READY YET'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my_future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DoThing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APL385 Unicode" panose="020B0709000202000203" pitchFamily="49" charset="0"/>
              </a:rPr>
              <a:t>#.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II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arg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default </a:t>
            </a:r>
            <a:r>
              <a:rPr lang="en-GB" dirty="0">
                <a:solidFill>
                  <a:srgbClr val="0000FF"/>
                </a:solidFill>
                <a:latin typeface="APL385 Unicode" panose="020B0709000202000203" pitchFamily="49" charset="0"/>
              </a:rPr>
              <a:t>#.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isolate.</a:t>
            </a:r>
            <a:r>
              <a:rPr lang="en-GB" dirty="0">
                <a:solidFill>
                  <a:srgbClr val="C0C0C0"/>
                </a:solidFill>
                <a:latin typeface="APL385 Unicode" panose="020B0709000202000203" pitchFamily="49" charset="0"/>
              </a:rPr>
              <a:t>Values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8080"/>
                </a:solidFill>
                <a:latin typeface="APL385 Unicode" panose="020B0709000202000203" pitchFamily="49" charset="0"/>
              </a:rPr>
              <a:t>my_future</a:t>
            </a:r>
            <a:r>
              <a:rPr lang="en-GB" dirty="0">
                <a:solidFill>
                  <a:srgbClr val="00808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NOT READY YET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0697D-9399-83ED-39D5-14BF039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of Concurrent Calls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57B2B73-32E0-1F37-CBAA-EF5CE4B571A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46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BD1F-303F-3D67-2760-14F4649F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48B21-93AE-7766-7950-1BAAC4BF8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tid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DoThing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&amp;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arg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r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⎕TSYNC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tid</a:t>
            </a:r>
            <a:endParaRPr lang="en-GB" dirty="0">
              <a:solidFill>
                <a:srgbClr val="000000"/>
              </a:solidFill>
              <a:effectLst/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APL385 Unicode" panose="020B0709000202000203" pitchFamily="49" charset="0"/>
              </a:rPr>
              <a:t>VALUE ERROR: No result was provided when the context expected one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Run[2] r←⎕TSYNC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tid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   ∧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83F1EA-D0B1-D727-2C38-3FC54650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of Concurrent Calls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287281D-E06F-5F72-7DDD-C0A783BD36A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1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3B50-CB83-85F1-4853-1309BA3B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7CBF04-EC10-E2CA-E791-E783A991A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r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⎕TSYNC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DoThing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&amp;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arg</a:t>
            </a:r>
            <a:endParaRPr lang="en-GB" dirty="0">
              <a:solidFill>
                <a:srgbClr val="000000"/>
              </a:solidFill>
              <a:effectLst/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     r </a:t>
            </a:r>
            <a:r>
              <a:rPr lang="en-GB" dirty="0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80"/>
                </a:solidFill>
                <a:latin typeface="APL385 Unicode" panose="020B0709000202000203" pitchFamily="49" charset="0"/>
              </a:rPr>
              <a:t>⎕TSYNC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HttpCommand.Get</a:t>
            </a:r>
            <a:r>
              <a:rPr lang="en-GB" dirty="0">
                <a:solidFill>
                  <a:srgbClr val="0000FF"/>
                </a:solidFill>
                <a:latin typeface="APL385 Unicode" panose="020B0709000202000203" pitchFamily="49" charset="0"/>
              </a:rPr>
              <a:t>&amp;¨</a:t>
            </a: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urls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E3F74F-843E-8400-9A54-87723914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of Concurrent Calls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D9C574E-6964-EC01-A711-7808F840605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12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087DB-95B2-D3B3-37B9-5CA7D45A8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552755"/>
            <a:ext cx="8475416" cy="2954210"/>
          </a:xfrm>
        </p:spPr>
        <p:txBody>
          <a:bodyPr/>
          <a:lstStyle/>
          <a:p>
            <a:r>
              <a:rPr lang="en-GB" dirty="0"/>
              <a:t>Demo</a:t>
            </a:r>
          </a:p>
          <a:p>
            <a:r>
              <a:rPr lang="en-GB" dirty="0"/>
              <a:t>Discuss</a:t>
            </a:r>
          </a:p>
          <a:p>
            <a:r>
              <a:rPr lang="en-GB" dirty="0"/>
              <a:t>Try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D5B214-E62A-3B8F-1CAF-590B4747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81B5C1D4-E755-8CE0-B625-24C9D60561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860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0F125B-BFEF-7595-4CE1-9AAB1E97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B0E891B-8EF2-7E64-FAFD-A04F652F9A3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BD73FA-7245-4D5A-E9E5-93A85C9535A5}"/>
              </a:ext>
            </a:extLst>
          </p:cNvPr>
          <p:cNvSpPr/>
          <p:nvPr/>
        </p:nvSpPr>
        <p:spPr>
          <a:xfrm>
            <a:off x="762124" y="1561934"/>
            <a:ext cx="2815389" cy="425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Main: </a:t>
            </a:r>
            <a:r>
              <a:rPr lang="en-GB" dirty="0" err="1">
                <a:solidFill>
                  <a:sysClr val="windowText" lastClr="000000"/>
                </a:solidFill>
                <a:latin typeface="APL385 Unicode" panose="020B0709000202000203" pitchFamily="49" charset="0"/>
              </a:rPr>
              <a:t>DoThing</a:t>
            </a:r>
            <a:r>
              <a:rPr lang="en-GB" dirty="0">
                <a:solidFill>
                  <a:sysClr val="windowText" lastClr="000000"/>
                </a:solidFill>
                <a:latin typeface="APL385 Unicode" panose="020B0709000202000203" pitchFamily="49" charset="0"/>
              </a:rPr>
              <a:t> II </a:t>
            </a:r>
            <a:r>
              <a:rPr lang="en-GB" dirty="0" err="1">
                <a:solidFill>
                  <a:sysClr val="windowText" lastClr="000000"/>
                </a:solidFill>
                <a:latin typeface="APL385 Unicode" panose="020B0709000202000203" pitchFamily="49" charset="0"/>
              </a:rPr>
              <a:t>arg</a:t>
            </a:r>
            <a:endParaRPr lang="en-GB" dirty="0">
              <a:solidFill>
                <a:sysClr val="windowText" lastClr="00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0CE19-D8CA-AA65-C6BC-D35092ED8BFE}"/>
              </a:ext>
            </a:extLst>
          </p:cNvPr>
          <p:cNvSpPr/>
          <p:nvPr/>
        </p:nvSpPr>
        <p:spPr>
          <a:xfrm>
            <a:off x="4838265" y="1561934"/>
            <a:ext cx="2815389" cy="425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dyalogrt.exe</a:t>
            </a:r>
            <a:endParaRPr lang="en-GB" dirty="0">
              <a:solidFill>
                <a:sysClr val="windowText" lastClr="00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3989D-9910-4CE0-4257-9A773AD67F7A}"/>
              </a:ext>
            </a:extLst>
          </p:cNvPr>
          <p:cNvSpPr txBox="1"/>
          <p:nvPr/>
        </p:nvSpPr>
        <p:spPr>
          <a:xfrm>
            <a:off x="5728601" y="2202418"/>
            <a:ext cx="103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startup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4C50D-3821-5913-6C9A-DB42DDB54AA6}"/>
              </a:ext>
            </a:extLst>
          </p:cNvPr>
          <p:cNvSpPr txBox="1"/>
          <p:nvPr/>
        </p:nvSpPr>
        <p:spPr>
          <a:xfrm>
            <a:off x="5534526" y="2640729"/>
            <a:ext cx="181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Fix code, </a:t>
            </a:r>
            <a:r>
              <a:rPr lang="en-GB" dirty="0" err="1"/>
              <a:t>arg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2B2D3-6799-5BF4-A26E-F470C5EFEC59}"/>
              </a:ext>
            </a:extLst>
          </p:cNvPr>
          <p:cNvSpPr txBox="1"/>
          <p:nvPr/>
        </p:nvSpPr>
        <p:spPr>
          <a:xfrm>
            <a:off x="1167186" y="2640729"/>
            <a:ext cx="200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send code, </a:t>
            </a:r>
            <a:r>
              <a:rPr lang="en-GB" dirty="0" err="1"/>
              <a:t>arg</a:t>
            </a:r>
            <a:endParaRPr lang="en-GB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95C11EA-034B-5D51-A752-ACE5ED775E3F}"/>
              </a:ext>
            </a:extLst>
          </p:cNvPr>
          <p:cNvSpPr/>
          <p:nvPr/>
        </p:nvSpPr>
        <p:spPr>
          <a:xfrm>
            <a:off x="191905" y="1561934"/>
            <a:ext cx="344905" cy="29619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E6DCFB-9F3B-C628-34E0-3C0586A1DDCC}"/>
              </a:ext>
            </a:extLst>
          </p:cNvPr>
          <p:cNvCxnSpPr>
            <a:stCxn id="11" idx="3"/>
          </p:cNvCxnSpPr>
          <p:nvPr/>
        </p:nvCxnSpPr>
        <p:spPr>
          <a:xfrm>
            <a:off x="3172449" y="2825395"/>
            <a:ext cx="20171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647ADB-B70D-0AA6-9B40-934D3F6E9F4C}"/>
              </a:ext>
            </a:extLst>
          </p:cNvPr>
          <p:cNvSpPr txBox="1"/>
          <p:nvPr/>
        </p:nvSpPr>
        <p:spPr>
          <a:xfrm>
            <a:off x="5406189" y="3079040"/>
            <a:ext cx="181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Execute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BDC4F2-D9AC-0037-4D0C-1FBC6E8CE6F6}"/>
              </a:ext>
            </a:extLst>
          </p:cNvPr>
          <p:cNvSpPr txBox="1"/>
          <p:nvPr/>
        </p:nvSpPr>
        <p:spPr>
          <a:xfrm>
            <a:off x="5478378" y="3517351"/>
            <a:ext cx="133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Send 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EBEB4-FEA1-CBFF-A409-24BE5D901B08}"/>
              </a:ext>
            </a:extLst>
          </p:cNvPr>
          <p:cNvSpPr txBox="1"/>
          <p:nvPr/>
        </p:nvSpPr>
        <p:spPr>
          <a:xfrm>
            <a:off x="1167186" y="3517351"/>
            <a:ext cx="200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Receive result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8C7FFB-09DB-5C20-B8C7-8A5BA11B304E}"/>
              </a:ext>
            </a:extLst>
          </p:cNvPr>
          <p:cNvCxnSpPr>
            <a:cxnSpLocks/>
          </p:cNvCxnSpPr>
          <p:nvPr/>
        </p:nvCxnSpPr>
        <p:spPr>
          <a:xfrm flipH="1">
            <a:off x="3150452" y="3679938"/>
            <a:ext cx="20171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2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DD19-1A19-5C2E-04DB-441FEBCCC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526875"/>
            <a:ext cx="8458164" cy="298009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Collatz step: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		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		    1=⍵: 1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			    2|⍵: 1+3×⍵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		    ⍵÷2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		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F34A98-DD5A-2EE3-DABC-CA69AE52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6943FC04-3B64-1C8F-D05E-CAF54EB6615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31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829F-27D3-6636-02AE-E1CCA75D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8E466-D193-2625-D3F8-434B4C679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526875"/>
            <a:ext cx="8458164" cy="298009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Collatz step: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    1=⍵: 1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	    2|⍵: 1+3×⍵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    ⍵÷2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1F9ED7-3660-BC74-E7A8-ABD5E87B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D73D8F0B-4101-ACFB-EA71-48B49CFE865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E459F-700C-8042-41C5-5D4F71A0565E}"/>
              </a:ext>
            </a:extLst>
          </p:cNvPr>
          <p:cNvSpPr txBox="1"/>
          <p:nvPr/>
        </p:nvSpPr>
        <p:spPr>
          <a:xfrm>
            <a:off x="4911922" y="2026719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3 10 5 16 8 4 2 1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A49B8-B6F1-1935-55DC-E3E5289D4B07}"/>
              </a:ext>
            </a:extLst>
          </p:cNvPr>
          <p:cNvSpPr txBox="1"/>
          <p:nvPr/>
        </p:nvSpPr>
        <p:spPr>
          <a:xfrm>
            <a:off x="4911921" y="2675037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4 2 1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E10C7-380E-1C9B-FE75-598B968C2A4F}"/>
              </a:ext>
            </a:extLst>
          </p:cNvPr>
          <p:cNvSpPr txBox="1"/>
          <p:nvPr/>
        </p:nvSpPr>
        <p:spPr>
          <a:xfrm>
            <a:off x="4911921" y="3309227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5 16 8 4 2 1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4222E-CA65-EFE6-3B08-7D85580A3504}"/>
              </a:ext>
            </a:extLst>
          </p:cNvPr>
          <p:cNvSpPr txBox="1"/>
          <p:nvPr/>
        </p:nvSpPr>
        <p:spPr>
          <a:xfrm>
            <a:off x="4911921" y="3943417"/>
            <a:ext cx="3687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6 3 10 5 16 8 4 2 1</a:t>
            </a:r>
          </a:p>
        </p:txBody>
      </p:sp>
    </p:spTree>
    <p:extLst>
      <p:ext uri="{BB962C8B-B14F-4D97-AF65-F5344CB8AC3E}">
        <p14:creationId xmlns:p14="http://schemas.microsoft.com/office/powerpoint/2010/main" val="3236537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 build="p"/>
      <p:bldP spid="7" grpId="0" build="p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6682-9933-648F-972B-E4B527C0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43E93-637C-9CEA-3594-F8DAD4BB1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526875"/>
            <a:ext cx="8458164" cy="298009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]get -u </a:t>
            </a:r>
            <a:r>
              <a:rPr lang="en-GB" dirty="0">
                <a:latin typeface="APL385 Unicode" panose="020B0709000202000203" pitchFamily="49" charset="0"/>
                <a:hlinkClick r:id="rId3"/>
              </a:rPr>
              <a:t>https://github.com/dyalog-training/2026-MA3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#.⎕CY'isolate'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chunks←10 Splits 2 2e6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Collatz 2 2e6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Best </a:t>
            </a:r>
            <a:r>
              <a:rPr lang="en-GB" dirty="0" err="1">
                <a:latin typeface="APL385 Unicode" panose="020B0709000202000203" pitchFamily="49" charset="0"/>
              </a:rPr>
              <a:t>Collatz¨chunks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Best ⎕TSYNC Collatz&amp;¨chunks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Best Collatz IÏ chunks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15E3A6-CC36-F704-5D38-826FCF23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B756C0B-15AF-3A2F-0963-0263C3A3FA6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F0BCD2-244E-7614-71AA-D3651F73C20C}"/>
              </a:ext>
            </a:extLst>
          </p:cNvPr>
          <p:cNvSpPr txBox="1"/>
          <p:nvPr/>
        </p:nvSpPr>
        <p:spPr>
          <a:xfrm>
            <a:off x="4572000" y="2743872"/>
            <a:ext cx="4586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Which expressions are fastest (number 1-4)?</a:t>
            </a:r>
          </a:p>
          <a:p>
            <a:r>
              <a:rPr lang="en-GB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951728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47418-61C7-59FC-C70C-660AFD5F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8196-85D3-814F-A7ED-A5C31C8AE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526875"/>
            <a:ext cx="8458164" cy="298009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]get -u </a:t>
            </a:r>
            <a:r>
              <a:rPr lang="en-GB" dirty="0">
                <a:latin typeface="APL385 Unicode" panose="020B0709000202000203" pitchFamily="49" charset="0"/>
                <a:hlinkClick r:id="rId3"/>
              </a:rPr>
              <a:t>https://github.com/dyalog-training/2026-MA3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#.⎕CY'isolate'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chunks←10 Splits 2 2e6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Collatz 2 2e6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Best </a:t>
            </a:r>
            <a:r>
              <a:rPr lang="en-GB" dirty="0" err="1">
                <a:latin typeface="APL385 Unicode" panose="020B0709000202000203" pitchFamily="49" charset="0"/>
              </a:rPr>
              <a:t>Collatz¨chunks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Best ⎕TSYNC Collatz&amp;¨chunks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Best Collatz IÏ chunks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920BC9-D110-806B-56D3-B0C1E78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AB3AB1B2-ED6F-A14F-5A44-A56269CB917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68939-AB93-7B28-A4CB-9F3DD688D471}"/>
              </a:ext>
            </a:extLst>
          </p:cNvPr>
          <p:cNvSpPr txBox="1"/>
          <p:nvPr/>
        </p:nvSpPr>
        <p:spPr>
          <a:xfrm>
            <a:off x="4572000" y="2743872"/>
            <a:ext cx="4586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Which expressions are fastest (number 1-4)?</a:t>
            </a:r>
          </a:p>
          <a:p>
            <a:r>
              <a:rPr lang="en-GB" dirty="0"/>
              <a:t>Why?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D35A1-32A1-531B-3537-38A84624C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t="13813" b="10792"/>
          <a:stretch>
            <a:fillRect/>
          </a:stretch>
        </p:blipFill>
        <p:spPr>
          <a:xfrm>
            <a:off x="2454464" y="305060"/>
            <a:ext cx="4235073" cy="425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615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86F0-1ED9-724F-90FB-DD0551DCF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4191-8DFA-1E12-4B8F-9E45CA8CB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6855"/>
            <a:ext cx="8458164" cy="29800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{Collatz ⍵}_Time 2 2e6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{Best Collatz¨⍵}_Time chunks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{Best ⎕TSYNC Collatz&amp;¨⍵}_Time chunks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{Best Collatz IÏ ⍵}_Time chunks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0C594F-E1D3-5E40-B88A-0FC1465B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Parallelisation Performance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2EB2BC24-2B21-3543-C1FE-47F336DE545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95011C-45E3-954F-8F98-0464AD9C052E}"/>
              </a:ext>
            </a:extLst>
          </p:cNvPr>
          <p:cNvSpPr txBox="1"/>
          <p:nvPr/>
        </p:nvSpPr>
        <p:spPr>
          <a:xfrm>
            <a:off x="5907132" y="1744238"/>
            <a:ext cx="3236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the </a:t>
            </a:r>
            <a:r>
              <a:rPr lang="en-GB" dirty="0">
                <a:latin typeface="APL385 Unicode" panose="020B0709000202000203" pitchFamily="49" charset="0"/>
              </a:rPr>
              <a:t>_Time</a:t>
            </a:r>
            <a:r>
              <a:rPr lang="en-GB" dirty="0"/>
              <a:t> operator</a:t>
            </a:r>
          </a:p>
          <a:p>
            <a:endParaRPr lang="en-GB" dirty="0"/>
          </a:p>
          <a:p>
            <a:r>
              <a:rPr lang="en-GB" dirty="0"/>
              <a:t>Try using fewer chunks</a:t>
            </a:r>
          </a:p>
          <a:p>
            <a:r>
              <a:rPr lang="en-GB" dirty="0"/>
              <a:t>Try using more chunks</a:t>
            </a:r>
          </a:p>
        </p:txBody>
      </p:sp>
    </p:spTree>
    <p:extLst>
      <p:ext uri="{BB962C8B-B14F-4D97-AF65-F5344CB8AC3E}">
        <p14:creationId xmlns:p14="http://schemas.microsoft.com/office/powerpoint/2010/main" val="275491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1001AD-EA98-9DE6-1782-90F538F2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Thread Safety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7C14926-7C78-346F-C6B6-908B4024BFD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" name="Graphic 13" descr="Warning with solid fill">
            <a:extLst>
              <a:ext uri="{FF2B5EF4-FFF2-40B4-BE49-F238E27FC236}">
                <a16:creationId xmlns:a16="http://schemas.microsoft.com/office/drawing/2014/main" id="{0D4B274C-0823-7731-E03F-BCE412AB1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754" y="1356504"/>
            <a:ext cx="2430492" cy="243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78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297B-6817-2E85-ECE4-4474BC65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B158AC-5AD1-D670-876A-9A1A37F7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Thread Safety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B0F15DD-50E9-1942-46E3-1B5CA3D17FF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F20C0DC-4A85-B12A-D414-1C8812181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356754" y="1638834"/>
            <a:ext cx="2430492" cy="18658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C27CBD-05FC-947D-6DAD-F329684D4FFA}"/>
              </a:ext>
            </a:extLst>
          </p:cNvPr>
          <p:cNvSpPr txBox="1"/>
          <p:nvPr/>
        </p:nvSpPr>
        <p:spPr>
          <a:xfrm>
            <a:off x="120771" y="4339087"/>
            <a:ext cx="2191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/>
              <a:t>hardhat by Zach Hainsworth</a:t>
            </a:r>
          </a:p>
          <a:p>
            <a:r>
              <a:rPr lang="en-GB" sz="1200" i="1" dirty="0"/>
              <a:t>from Noun Project (CC BY 3.0)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632623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05DB82-D0F0-65E2-E9C8-ADA30C93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Isolates &amp; Green Threads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B5C716F-5E7E-4B91-F189-F6B7995C82B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FA4014-2703-E862-D48F-31AAA25F6920}"/>
              </a:ext>
            </a:extLst>
          </p:cNvPr>
          <p:cNvSpPr/>
          <p:nvPr/>
        </p:nvSpPr>
        <p:spPr>
          <a:xfrm>
            <a:off x="3061546" y="1178268"/>
            <a:ext cx="1131147" cy="419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Jarvis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BFE243-A9F0-3E27-E827-85E1BE81B7A0}"/>
              </a:ext>
            </a:extLst>
          </p:cNvPr>
          <p:cNvSpPr/>
          <p:nvPr/>
        </p:nvSpPr>
        <p:spPr>
          <a:xfrm>
            <a:off x="2961639" y="2571750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CC172CE-30DC-F119-1C69-1187F0143F8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3140352" y="2084982"/>
            <a:ext cx="973536" cy="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44B365-987D-25D5-88F9-1CE5A9580FDB}"/>
              </a:ext>
            </a:extLst>
          </p:cNvPr>
          <p:cNvSpPr/>
          <p:nvPr/>
        </p:nvSpPr>
        <p:spPr>
          <a:xfrm>
            <a:off x="2868084" y="3504647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170A65-5D24-48B6-8596-28BA4B4E54FE}"/>
              </a:ext>
            </a:extLst>
          </p:cNvPr>
          <p:cNvCxnSpPr/>
          <p:nvPr/>
        </p:nvCxnSpPr>
        <p:spPr>
          <a:xfrm>
            <a:off x="3627117" y="3065215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0EA358-C009-1AC3-639A-9BBAF132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015770-15B1-F1E1-7C0C-4B621332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Isolates &amp; Green Threads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8EE947F-58B4-E387-E80C-8847E931BA0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AB8136-CD5C-E6F4-49D1-F19483C0FE39}"/>
              </a:ext>
            </a:extLst>
          </p:cNvPr>
          <p:cNvSpPr/>
          <p:nvPr/>
        </p:nvSpPr>
        <p:spPr>
          <a:xfrm>
            <a:off x="3061543" y="1180871"/>
            <a:ext cx="1131147" cy="419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Jarvis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31C151-E030-199E-619E-4CF87C01C075}"/>
              </a:ext>
            </a:extLst>
          </p:cNvPr>
          <p:cNvSpPr/>
          <p:nvPr/>
        </p:nvSpPr>
        <p:spPr>
          <a:xfrm>
            <a:off x="1188720" y="2571750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A35226-254C-4DFA-D3DC-7F4C5999928E}"/>
              </a:ext>
            </a:extLst>
          </p:cNvPr>
          <p:cNvSpPr/>
          <p:nvPr/>
        </p:nvSpPr>
        <p:spPr>
          <a:xfrm>
            <a:off x="2961639" y="2571750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8489E6-6857-296E-C1C3-75059F170F97}"/>
              </a:ext>
            </a:extLst>
          </p:cNvPr>
          <p:cNvSpPr/>
          <p:nvPr/>
        </p:nvSpPr>
        <p:spPr>
          <a:xfrm>
            <a:off x="4734558" y="2581699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4428001-7658-6D30-5251-CDB99CF0ACB5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255193" y="1199825"/>
            <a:ext cx="970933" cy="177291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E18DB78-BEE2-57EB-0E16-E4963D31E06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3141652" y="2086282"/>
            <a:ext cx="970933" cy="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8F073AB-2900-4FCF-05A6-E52CD6A182C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023136" y="1204797"/>
            <a:ext cx="980882" cy="17729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42F736-3475-EE78-C5EA-9AE89993CAE7}"/>
              </a:ext>
            </a:extLst>
          </p:cNvPr>
          <p:cNvSpPr txBox="1"/>
          <p:nvPr/>
        </p:nvSpPr>
        <p:spPr>
          <a:xfrm>
            <a:off x="2316480" y="178138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F750FD-9E2A-2106-D482-FA688CE48D84}"/>
              </a:ext>
            </a:extLst>
          </p:cNvPr>
          <p:cNvSpPr txBox="1"/>
          <p:nvPr/>
        </p:nvSpPr>
        <p:spPr>
          <a:xfrm>
            <a:off x="3585179" y="21053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E427E-0228-5373-67FA-DD3DED4803AF}"/>
              </a:ext>
            </a:extLst>
          </p:cNvPr>
          <p:cNvSpPr txBox="1"/>
          <p:nvPr/>
        </p:nvSpPr>
        <p:spPr>
          <a:xfrm>
            <a:off x="4740908" y="16388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9ABC0C-04FA-631E-D97C-5C826ABF092E}"/>
              </a:ext>
            </a:extLst>
          </p:cNvPr>
          <p:cNvSpPr/>
          <p:nvPr/>
        </p:nvSpPr>
        <p:spPr>
          <a:xfrm>
            <a:off x="1108231" y="3504648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A057BF9-FA66-0C95-C8DA-899AE8A3B54C}"/>
              </a:ext>
            </a:extLst>
          </p:cNvPr>
          <p:cNvSpPr/>
          <p:nvPr/>
        </p:nvSpPr>
        <p:spPr>
          <a:xfrm>
            <a:off x="2868084" y="3504647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CD4017-3B0B-B9A9-5535-7836E5279540}"/>
              </a:ext>
            </a:extLst>
          </p:cNvPr>
          <p:cNvSpPr/>
          <p:nvPr/>
        </p:nvSpPr>
        <p:spPr>
          <a:xfrm>
            <a:off x="4717990" y="3504646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348D35-EFC0-9165-BF1C-257382BF2143}"/>
              </a:ext>
            </a:extLst>
          </p:cNvPr>
          <p:cNvCxnSpPr/>
          <p:nvPr/>
        </p:nvCxnSpPr>
        <p:spPr>
          <a:xfrm>
            <a:off x="1873617" y="3055266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764D14-3265-5CDA-B6E9-E35B93FDA3CF}"/>
              </a:ext>
            </a:extLst>
          </p:cNvPr>
          <p:cNvCxnSpPr/>
          <p:nvPr/>
        </p:nvCxnSpPr>
        <p:spPr>
          <a:xfrm>
            <a:off x="3627117" y="3065215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86EA3D-A8EB-1E4A-4875-D7C3E4E28771}"/>
              </a:ext>
            </a:extLst>
          </p:cNvPr>
          <p:cNvCxnSpPr/>
          <p:nvPr/>
        </p:nvCxnSpPr>
        <p:spPr>
          <a:xfrm>
            <a:off x="5380617" y="3075164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03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7C33E2-FC4D-E702-414D-AA663931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832E0F-CDFB-6300-2E2D-D9F92C9B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Isolates &amp; Green Threads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6EBFA7D-31EB-883D-D3DF-3E3BB73CF9D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28F867-23EE-6896-BCF6-358A66E1470D}"/>
              </a:ext>
            </a:extLst>
          </p:cNvPr>
          <p:cNvSpPr/>
          <p:nvPr/>
        </p:nvSpPr>
        <p:spPr>
          <a:xfrm>
            <a:off x="3061543" y="1180871"/>
            <a:ext cx="1131147" cy="419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Jarvis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7A46D0-83A6-F2B8-484B-129C637FF5C1}"/>
              </a:ext>
            </a:extLst>
          </p:cNvPr>
          <p:cNvSpPr/>
          <p:nvPr/>
        </p:nvSpPr>
        <p:spPr>
          <a:xfrm>
            <a:off x="1188720" y="2571750"/>
            <a:ext cx="1330960" cy="48351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0AA991-FA39-E20A-1FD2-F5DE709670FA}"/>
              </a:ext>
            </a:extLst>
          </p:cNvPr>
          <p:cNvSpPr/>
          <p:nvPr/>
        </p:nvSpPr>
        <p:spPr>
          <a:xfrm>
            <a:off x="2961639" y="2571750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184F78-30B8-BCA8-55E4-2EF8434EAFA3}"/>
              </a:ext>
            </a:extLst>
          </p:cNvPr>
          <p:cNvSpPr/>
          <p:nvPr/>
        </p:nvSpPr>
        <p:spPr>
          <a:xfrm>
            <a:off x="4734558" y="2581699"/>
            <a:ext cx="1330960" cy="48351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ECFFB83-B6B2-7D38-708F-00C65ED70474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255193" y="1199825"/>
            <a:ext cx="970933" cy="177291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56CDD0E-5EC7-A5B1-D2AD-4B3499791B2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3141652" y="2086282"/>
            <a:ext cx="970933" cy="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E1192BC-0E65-AFD3-A39D-9116BC8CFD7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023136" y="1204797"/>
            <a:ext cx="980882" cy="17729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CF6AEE-0627-D6D4-C7D4-A913A56B0F4E}"/>
              </a:ext>
            </a:extLst>
          </p:cNvPr>
          <p:cNvSpPr txBox="1"/>
          <p:nvPr/>
        </p:nvSpPr>
        <p:spPr>
          <a:xfrm>
            <a:off x="2316480" y="178138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94BF7-72CA-45F1-86D0-D8A25429C648}"/>
              </a:ext>
            </a:extLst>
          </p:cNvPr>
          <p:cNvSpPr txBox="1"/>
          <p:nvPr/>
        </p:nvSpPr>
        <p:spPr>
          <a:xfrm>
            <a:off x="3585179" y="21053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4383B-EBE7-5782-3665-4533BBE46B84}"/>
              </a:ext>
            </a:extLst>
          </p:cNvPr>
          <p:cNvSpPr txBox="1"/>
          <p:nvPr/>
        </p:nvSpPr>
        <p:spPr>
          <a:xfrm>
            <a:off x="4740908" y="16388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8EBF12-9E3B-A1F3-49CB-5D3B4A1C297C}"/>
              </a:ext>
            </a:extLst>
          </p:cNvPr>
          <p:cNvSpPr/>
          <p:nvPr/>
        </p:nvSpPr>
        <p:spPr>
          <a:xfrm>
            <a:off x="1108231" y="3504648"/>
            <a:ext cx="1530773" cy="41994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3976BD-E596-9CF5-A948-E22EE6943475}"/>
              </a:ext>
            </a:extLst>
          </p:cNvPr>
          <p:cNvSpPr/>
          <p:nvPr/>
        </p:nvSpPr>
        <p:spPr>
          <a:xfrm>
            <a:off x="2868084" y="3504647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07E003-E802-3F32-EA5A-A009CF1B38C4}"/>
              </a:ext>
            </a:extLst>
          </p:cNvPr>
          <p:cNvSpPr/>
          <p:nvPr/>
        </p:nvSpPr>
        <p:spPr>
          <a:xfrm>
            <a:off x="4717990" y="3504646"/>
            <a:ext cx="1530773" cy="41994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8364678-BE14-1C45-9303-82B4FD6ABCEF}"/>
              </a:ext>
            </a:extLst>
          </p:cNvPr>
          <p:cNvCxnSpPr/>
          <p:nvPr/>
        </p:nvCxnSpPr>
        <p:spPr>
          <a:xfrm>
            <a:off x="1873617" y="3055266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ECED45-0F7A-06B9-A86D-E22305FAACDE}"/>
              </a:ext>
            </a:extLst>
          </p:cNvPr>
          <p:cNvCxnSpPr/>
          <p:nvPr/>
        </p:nvCxnSpPr>
        <p:spPr>
          <a:xfrm>
            <a:off x="3627117" y="3065215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8E438E-9010-D5E5-A17B-2D1679410A2F}"/>
              </a:ext>
            </a:extLst>
          </p:cNvPr>
          <p:cNvCxnSpPr/>
          <p:nvPr/>
        </p:nvCxnSpPr>
        <p:spPr>
          <a:xfrm>
            <a:off x="5380617" y="3075164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772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4AA0C3-2819-9E11-69E2-7723C6E9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7F92AD-A957-43A6-1900-0AF9A42B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Isolates &amp; Green Threads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3569917-D41C-B47D-3227-82A6127DEA2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B19C26-7A06-53CD-8AA6-D9E9EA8B2467}"/>
              </a:ext>
            </a:extLst>
          </p:cNvPr>
          <p:cNvSpPr/>
          <p:nvPr/>
        </p:nvSpPr>
        <p:spPr>
          <a:xfrm>
            <a:off x="3061543" y="1180871"/>
            <a:ext cx="1131147" cy="419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Jarvis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A7CBD-88EC-E03F-F303-934F038E2ACF}"/>
              </a:ext>
            </a:extLst>
          </p:cNvPr>
          <p:cNvSpPr/>
          <p:nvPr/>
        </p:nvSpPr>
        <p:spPr>
          <a:xfrm>
            <a:off x="1188720" y="2571750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8170FA-6D10-45B4-3554-F0C3C72B14FB}"/>
              </a:ext>
            </a:extLst>
          </p:cNvPr>
          <p:cNvSpPr/>
          <p:nvPr/>
        </p:nvSpPr>
        <p:spPr>
          <a:xfrm>
            <a:off x="4734558" y="2581699"/>
            <a:ext cx="1330960" cy="48351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3268792-C08B-F1F3-4D46-B9BB00C672F6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255193" y="1199825"/>
            <a:ext cx="970933" cy="177291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484CFA3-47E1-D793-4922-0A8F3D41B4F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023136" y="1204797"/>
            <a:ext cx="980882" cy="17729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F260F49-E7B1-828E-D812-7FA0DE5EF088}"/>
              </a:ext>
            </a:extLst>
          </p:cNvPr>
          <p:cNvSpPr txBox="1"/>
          <p:nvPr/>
        </p:nvSpPr>
        <p:spPr>
          <a:xfrm>
            <a:off x="2316480" y="178138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84D128-957F-E267-66B5-64E0D7CC8336}"/>
              </a:ext>
            </a:extLst>
          </p:cNvPr>
          <p:cNvSpPr txBox="1"/>
          <p:nvPr/>
        </p:nvSpPr>
        <p:spPr>
          <a:xfrm>
            <a:off x="4740908" y="16388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259C548-A240-8544-B9C1-479BCD790E34}"/>
              </a:ext>
            </a:extLst>
          </p:cNvPr>
          <p:cNvSpPr/>
          <p:nvPr/>
        </p:nvSpPr>
        <p:spPr>
          <a:xfrm>
            <a:off x="1108231" y="3504648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9FCB9D-D2E6-5B3D-1489-E8614E426824}"/>
              </a:ext>
            </a:extLst>
          </p:cNvPr>
          <p:cNvSpPr/>
          <p:nvPr/>
        </p:nvSpPr>
        <p:spPr>
          <a:xfrm>
            <a:off x="4717990" y="3504646"/>
            <a:ext cx="1530773" cy="41994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EB40CE-21FB-ADBB-2E9C-5A7788CB8290}"/>
              </a:ext>
            </a:extLst>
          </p:cNvPr>
          <p:cNvCxnSpPr/>
          <p:nvPr/>
        </p:nvCxnSpPr>
        <p:spPr>
          <a:xfrm>
            <a:off x="1873617" y="3055266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22AE8B-F5FF-EE25-9477-AAB61C6BB926}"/>
              </a:ext>
            </a:extLst>
          </p:cNvPr>
          <p:cNvCxnSpPr/>
          <p:nvPr/>
        </p:nvCxnSpPr>
        <p:spPr>
          <a:xfrm>
            <a:off x="5380617" y="3075164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392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70D90F-4952-E797-C713-561220AF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27E565-059B-156C-92E1-BD0D8F61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Isolates &amp; Green Threads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C67FDC8-3422-4B8B-5BDF-6832EFD546E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69EE7F-61FF-84B0-9F2E-D1A1E39AC6AB}"/>
              </a:ext>
            </a:extLst>
          </p:cNvPr>
          <p:cNvSpPr/>
          <p:nvPr/>
        </p:nvSpPr>
        <p:spPr>
          <a:xfrm>
            <a:off x="3061543" y="1180871"/>
            <a:ext cx="1131147" cy="419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Jarvis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8927BF-9375-1623-A636-FC1781C0CB19}"/>
              </a:ext>
            </a:extLst>
          </p:cNvPr>
          <p:cNvSpPr/>
          <p:nvPr/>
        </p:nvSpPr>
        <p:spPr>
          <a:xfrm>
            <a:off x="4734558" y="2581699"/>
            <a:ext cx="1330960" cy="483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request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62E8A69-D284-5FE0-F430-FA98409E4C1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023136" y="1204797"/>
            <a:ext cx="980882" cy="17729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E97F4B9-8F2F-430F-1549-CF91D11385B0}"/>
              </a:ext>
            </a:extLst>
          </p:cNvPr>
          <p:cNvSpPr txBox="1"/>
          <p:nvPr/>
        </p:nvSpPr>
        <p:spPr>
          <a:xfrm>
            <a:off x="4740908" y="16388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PL385 Unicode" panose="020B0709000202000203" pitchFamily="49" charset="0"/>
              </a:rPr>
              <a:t>&amp;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61E6F6-1768-1BDB-A95F-10526BDF66FB}"/>
              </a:ext>
            </a:extLst>
          </p:cNvPr>
          <p:cNvSpPr/>
          <p:nvPr/>
        </p:nvSpPr>
        <p:spPr>
          <a:xfrm>
            <a:off x="4717990" y="3504646"/>
            <a:ext cx="1530773" cy="4199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$$$ compute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67BA7D6-FB16-432F-5F14-5ABA4BF63451}"/>
              </a:ext>
            </a:extLst>
          </p:cNvPr>
          <p:cNvCxnSpPr/>
          <p:nvPr/>
        </p:nvCxnSpPr>
        <p:spPr>
          <a:xfrm>
            <a:off x="5380617" y="3075164"/>
            <a:ext cx="0" cy="439431"/>
          </a:xfrm>
          <a:prstGeom prst="line">
            <a:avLst/>
          </a:prstGeom>
          <a:ln w="38100">
            <a:solidFill>
              <a:srgbClr val="6C28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496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01C22D-BA3B-BF44-4B47-60EA36DE7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Functions may have side effects</a:t>
            </a:r>
          </a:p>
          <a:p>
            <a:pPr lvl="1"/>
            <a:r>
              <a:rPr lang="en-GB" dirty="0"/>
              <a:t>Global variables</a:t>
            </a:r>
          </a:p>
          <a:p>
            <a:pPr lvl="1"/>
            <a:r>
              <a:rPr lang="en-GB" dirty="0"/>
              <a:t>File system</a:t>
            </a:r>
          </a:p>
          <a:p>
            <a:pPr lvl="1"/>
            <a:r>
              <a:rPr lang="en-GB" dirty="0"/>
              <a:t>Network</a:t>
            </a:r>
          </a:p>
          <a:p>
            <a:pPr lvl="1"/>
            <a:r>
              <a:rPr lang="en-GB" dirty="0"/>
              <a:t>External interfaces (DLLs, .NET, etc.)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5A79BC-DFEA-E40B-56DE-754BE527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Spawn (</a:t>
            </a:r>
            <a:r>
              <a:rPr lang="en-GB" dirty="0">
                <a:latin typeface="APL385 Unicode" panose="020B0709000202000203" pitchFamily="49" charset="0"/>
              </a:rPr>
              <a:t>&amp;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9E7512-6DF3-2340-E1A5-DF32BF54039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023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325222-0A12-CC47-816B-461535F75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Sections of code that handled shared state are called</a:t>
            </a:r>
          </a:p>
          <a:p>
            <a:pPr marL="0" indent="0">
              <a:buNone/>
            </a:pPr>
            <a:r>
              <a:rPr lang="en-GB" i="1" dirty="0"/>
              <a:t>critical sections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A5E2E0-5396-7433-2086-C7B519482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Shared State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896120C-2ABD-5C24-AE3C-4A756D90A4D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3D63C-55FE-E1CC-C5AC-1907D727C2B2}"/>
              </a:ext>
            </a:extLst>
          </p:cNvPr>
          <p:cNvSpPr txBox="1"/>
          <p:nvPr/>
        </p:nvSpPr>
        <p:spPr>
          <a:xfrm>
            <a:off x="2494549" y="2571750"/>
            <a:ext cx="5029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/>
                <a:latin typeface="APL385 Unicode" panose="020B0709000202000203" pitchFamily="49" charset="0"/>
              </a:rPr>
              <a:t>[1]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 sum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←+/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nums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[2]</a:t>
            </a: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 top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←⌈/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nums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[3]</a:t>
            </a: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new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sum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top bool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[4]</a:t>
            </a: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GLOBAL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⍪←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new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[5]</a:t>
            </a: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GLOBAL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[;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]←~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GLOBAL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[;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]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[6]</a:t>
            </a: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r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'sum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: '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,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sum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⍕⍛,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'top: '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,⍕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top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02977A1E-0405-DC79-E70A-1A6EEE34D73E}"/>
              </a:ext>
            </a:extLst>
          </p:cNvPr>
          <p:cNvSpPr/>
          <p:nvPr/>
        </p:nvSpPr>
        <p:spPr>
          <a:xfrm>
            <a:off x="2422359" y="3558339"/>
            <a:ext cx="144380" cy="304800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41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8556-BEDB-9DC1-95BC-CF5E1E2EF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FEBB67-7BF8-6407-DB37-7AD2A2846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Block other threads using one or more character "tokens"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76C782-6A1A-AED8-0DE8-4057EBA6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L385 Unicode" panose="020B0709000202000203" pitchFamily="49" charset="0"/>
              </a:rPr>
              <a:t>:Hold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FB8BB10-38B5-4FA6-565F-9E7F5D4E1D1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771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4A66B3-D3D7-CCF8-1958-9DD3F7B81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E505F6-5337-003D-9BBC-3F45CBC6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F89B9F1-209B-6B7F-868A-B8EC12D028F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85595-64A4-A312-2851-0C954C769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608" y="1130216"/>
            <a:ext cx="4500000" cy="3141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12C157-1337-01DD-F20F-D0AB63EC9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0216"/>
            <a:ext cx="4500000" cy="31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82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03DF-C25C-EE75-9129-8A5E069D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53EEF-D63C-F6D6-F0CC-7E3EC5646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DF5F3B-D22E-7B5C-BF0C-A46D2ADD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394F925-6C20-06D0-CA99-781F2AEC4FE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C2D61-BF9E-C827-A23E-404E0BBE8B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500000" cy="314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2CB1B-6DFA-9D41-D9D5-79BDF66CE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0216"/>
            <a:ext cx="4500000" cy="31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68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365AA-8FF6-C080-3E60-14BFD97B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DEBBC9-A9C0-5339-5B53-0FED80AD4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9137BB-2D22-8FFD-3D65-A0E80DDF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55BD781-C903-0A01-7F33-899DBF1D0E6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59A8-B53B-BD21-BD1B-9BB6D66B4D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500000" cy="314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076AA6-7DF0-B925-5F21-5A81B56C6C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30216"/>
            <a:ext cx="4500000" cy="31418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A9A4BA-2AA7-297A-2E56-40087B986C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662" r="5163" b="61972"/>
          <a:stretch>
            <a:fillRect/>
          </a:stretch>
        </p:blipFill>
        <p:spPr>
          <a:xfrm>
            <a:off x="-432" y="1559443"/>
            <a:ext cx="4267631" cy="76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154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941B-83A8-6213-EB38-795D1DA7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706210-B70E-2662-2E03-73046BAB7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446067-3039-BB0F-DE51-ACD79A61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7364252-3124-308D-02FC-B91DAB57449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0C154-9744-D8F9-51B4-3E42B5255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499999" cy="314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1609F1-4F64-329A-FA8E-0A266E2F2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6" y="1130216"/>
            <a:ext cx="4493548" cy="31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118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A2124-1F91-1181-5A7C-8C05C584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5597B4-CD26-5EC4-F01D-26F94787F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32587D-30EC-5241-1B58-4D8173E8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F340426-A656-7A5D-53CA-C3027253CC2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E61B1E-8AC3-5AEA-4E48-393953BD37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499999" cy="3141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0BE312-5583-55EC-EBA4-DA098095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0216"/>
            <a:ext cx="4500000" cy="3141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E46A9-F399-B282-11AF-F7F18754A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72"/>
          <a:stretch>
            <a:fillRect/>
          </a:stretch>
        </p:blipFill>
        <p:spPr>
          <a:xfrm>
            <a:off x="3226" y="1130217"/>
            <a:ext cx="4493548" cy="119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971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B6E45-E75A-8150-F82D-B76DC76A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B84C1C-A0E3-E145-89F4-30CF3DACF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BBB0DB-7953-24FD-D5D0-AD19FFB4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AB76AC3-F1AA-64EF-EAF4-CC3ECD7A71E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EA95FF-5AD8-6429-0CCE-22B6E23416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499999" cy="3141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F10767-B8E3-D1F2-70BF-5EF1DC543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30216"/>
            <a:ext cx="4500000" cy="314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99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7987-B4FD-DB90-7E08-66C7CDE0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DD857D-8E70-BF33-C349-CA25797B9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B0B50-1A1C-7A82-7F47-9A0EA5F9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EE2AFE3-56F7-B19F-21B3-92C57EFF43E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EA0D92-D827-C862-CADF-8A00338066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499999" cy="3141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7227B1-565F-997A-4F6A-F3F82E7527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30216"/>
            <a:ext cx="4499999" cy="314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03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4450-C72F-F2ED-6107-670387A3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546561-A28D-38B7-0A5B-2F137A4E1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94CCDE-D9BB-39C9-0A37-2185194B9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99E7CAB-3160-1D95-7FDE-E2FF0C9FCB8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D485C-457F-6D98-C17F-A4888C37B8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8608" y="1130216"/>
            <a:ext cx="4499999" cy="3141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644D7F-CDA9-85B6-E11B-608BAE99D8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30216"/>
            <a:ext cx="4499999" cy="31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37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371FEA-9690-3C93-4C3D-62C4E3AB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PL385 Unicode" panose="020B0709000202000203" pitchFamily="49" charset="0"/>
              </a:rPr>
              <a:t>)Holds 		</a:t>
            </a:r>
            <a:r>
              <a:rPr lang="en-GB" dirty="0"/>
              <a:t>held tokens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⎕TNUMS</a:t>
            </a:r>
            <a:r>
              <a:rPr lang="en-GB" dirty="0"/>
              <a:t> 		running threads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⎕TID</a:t>
            </a:r>
            <a:r>
              <a:rPr lang="en-GB" dirty="0"/>
              <a:t> 		this thread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⎕TCNUMS </a:t>
            </a:r>
            <a:r>
              <a:rPr lang="en-GB" dirty="0"/>
              <a:t>	children of this thread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⎕TKILL </a:t>
            </a:r>
            <a:r>
              <a:rPr lang="en-GB" dirty="0"/>
              <a:t>		guess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1055B0-3DE9-5F33-A5E7-EAEF4F03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 Management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D3EF291-B1EB-3A84-4AD3-AF601199113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20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88BC-147F-6B80-2D52-F37B6DD5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B2098-5528-CF45-A0BE-E0548A8B7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2158" cy="324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Single lines of primitives will not switch threads (inc. </a:t>
            </a:r>
            <a:r>
              <a:rPr lang="en-GB" dirty="0">
                <a:latin typeface="APL385 Unicode" panose="020B0709000202000203" pitchFamily="49" charset="0"/>
              </a:rPr>
              <a:t>⋄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Thread switch points include:</a:t>
            </a:r>
          </a:p>
          <a:p>
            <a:r>
              <a:rPr lang="en-GB" dirty="0"/>
              <a:t>between lines of code</a:t>
            </a:r>
          </a:p>
          <a:p>
            <a:r>
              <a:rPr lang="en-GB" dirty="0"/>
              <a:t>on entry to </a:t>
            </a:r>
            <a:r>
              <a:rPr lang="en-GB" dirty="0" err="1"/>
              <a:t>dfn</a:t>
            </a:r>
            <a:r>
              <a:rPr lang="en-GB" dirty="0"/>
              <a:t> or dop</a:t>
            </a:r>
          </a:p>
          <a:p>
            <a:r>
              <a:rPr lang="en-GB" dirty="0"/>
              <a:t>awaiting completion of an external operation</a:t>
            </a:r>
          </a:p>
          <a:p>
            <a:pPr marL="0" indent="0">
              <a:buNone/>
            </a:pPr>
            <a:r>
              <a:rPr lang="en-GB" dirty="0"/>
              <a:t>Search "Dyalog thread switching" online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3452E3-4BF4-16D3-61C3-28BF0670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 Switching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D7EA8192-CAF7-C672-746B-3E2CEB581DB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371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DA65-9867-89D2-F6A5-EB78F4A8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BCBE25-2EB5-70B3-026B-D4214720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Risks:</a:t>
            </a:r>
          </a:p>
          <a:p>
            <a:r>
              <a:rPr lang="en-GB" dirty="0"/>
              <a:t>Clobbering ("atomicity violation", lost updates)</a:t>
            </a:r>
          </a:p>
          <a:p>
            <a:r>
              <a:rPr lang="en-GB" dirty="0"/>
              <a:t>Order violation</a:t>
            </a:r>
          </a:p>
          <a:p>
            <a:r>
              <a:rPr lang="en-GB" dirty="0"/>
              <a:t>Deadlock</a:t>
            </a:r>
          </a:p>
          <a:p>
            <a:r>
              <a:rPr lang="en-GB" dirty="0" err="1"/>
              <a:t>Livelock</a:t>
            </a:r>
            <a:endParaRPr lang="en-GB" dirty="0"/>
          </a:p>
          <a:p>
            <a:r>
              <a:rPr lang="en-GB" dirty="0"/>
              <a:t>Thread starvation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8201A9-6FC7-54EA-817F-5F4EEB51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Shared State &amp; Holds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E4CD584-3603-799E-F364-642D96D7589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08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61915D-5FD3-0A0D-AD4F-925AD1A6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5F03A2E-C5B2-7BA7-C558-87AC0F7B658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A649E-53FA-8B7D-B63E-66EE762EC64A}"/>
              </a:ext>
            </a:extLst>
          </p:cNvPr>
          <p:cNvSpPr txBox="1"/>
          <p:nvPr/>
        </p:nvSpPr>
        <p:spPr>
          <a:xfrm>
            <a:off x="2911129" y="2294751"/>
            <a:ext cx="332174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Thread Safety Quiz</a:t>
            </a:r>
          </a:p>
        </p:txBody>
      </p:sp>
    </p:spTree>
    <p:extLst>
      <p:ext uri="{BB962C8B-B14F-4D97-AF65-F5344CB8AC3E}">
        <p14:creationId xmlns:p14="http://schemas.microsoft.com/office/powerpoint/2010/main" val="39404668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E949C3-3870-3B70-E4FD-EEA5819B6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Global variables</a:t>
            </a:r>
          </a:p>
          <a:p>
            <a:r>
              <a:rPr lang="en-GB" dirty="0"/>
              <a:t>External resources</a:t>
            </a:r>
          </a:p>
          <a:p>
            <a:r>
              <a:rPr lang="en-GB" dirty="0"/>
              <a:t>Token pool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D0C29-54C2-57A8-BE06-A0DDAE9A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Sharing Between Threads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020F3B2-C844-7E02-7324-9ED611D56E6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4153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536549-E04D-F09E-9E6C-9C0137B0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Atomic Updates</a:t>
            </a:r>
          </a:p>
          <a:p>
            <a:pPr lvl="1"/>
            <a:r>
              <a:rPr lang="en-GB" dirty="0"/>
              <a:t>One-line assignments</a:t>
            </a:r>
          </a:p>
          <a:p>
            <a:pPr lvl="1"/>
            <a:r>
              <a:rPr lang="en-GB" dirty="0"/>
              <a:t>Copy-on-write (snapshot)</a:t>
            </a:r>
          </a:p>
          <a:p>
            <a:r>
              <a:rPr lang="en-GB" dirty="0"/>
              <a:t>Mutual exclusion (mutex) (</a:t>
            </a:r>
            <a:r>
              <a:rPr lang="en-GB" dirty="0">
                <a:latin typeface="APL385 Unicode" panose="020B0709000202000203" pitchFamily="49" charset="0"/>
              </a:rPr>
              <a:t>:Hold</a:t>
            </a:r>
            <a:r>
              <a:rPr lang="en-GB" dirty="0"/>
              <a:t>)</a:t>
            </a:r>
          </a:p>
          <a:p>
            <a:r>
              <a:rPr lang="en-GB" dirty="0"/>
              <a:t>Various (</a:t>
            </a:r>
            <a:r>
              <a:rPr lang="en-GB" dirty="0">
                <a:latin typeface="APL385 Unicode" panose="020B0709000202000203" pitchFamily="49" charset="0"/>
              </a:rPr>
              <a:t>⎕TPUT</a:t>
            </a:r>
            <a:r>
              <a:rPr lang="en-GB" dirty="0"/>
              <a:t>/</a:t>
            </a:r>
            <a:r>
              <a:rPr lang="en-GB" dirty="0">
                <a:latin typeface="APL385 Unicode" panose="020B0709000202000203" pitchFamily="49" charset="0"/>
              </a:rPr>
              <a:t>⎕TGET</a:t>
            </a:r>
            <a:r>
              <a:rPr lang="en-GB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2A1081-5806-F1C2-DF9B-99B18E03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Synchronisation Strategies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B1C7956-D789-DDDA-5059-6DE456D551B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8355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B8D62-EF62-980F-D1F7-18F18AE7B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488989"/>
            <a:ext cx="3895547" cy="301797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∇ Update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snapshot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STATE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… modify snapshot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STATE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snapshot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∇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87955C-AE3B-1D46-17D1-20C270EA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Synchronisation Strategies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6D5D1D-FEC7-6AEF-788B-538D515535D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18C0420-102C-6213-FA3D-E8C8D25658D8}"/>
              </a:ext>
            </a:extLst>
          </p:cNvPr>
          <p:cNvSpPr txBox="1">
            <a:spLocks/>
          </p:cNvSpPr>
          <p:nvPr/>
        </p:nvSpPr>
        <p:spPr>
          <a:xfrm>
            <a:off x="5008050" y="1488989"/>
            <a:ext cx="3646894" cy="3017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 Read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r>
              <a:rPr lang="en-GB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snapshot</a:t>
            </a:r>
            <a:r>
              <a:rPr lang="en-GB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STATE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… use snapshot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0706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9D9B-0C02-F117-B17A-5D51B9F1A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BFCE45-5153-1D36-B751-41D71951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488989"/>
            <a:ext cx="4601400" cy="301797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∇ Update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:Hold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'STATE'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snapshot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STATE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… modify snapshot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STATE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snapshot</a:t>
            </a:r>
            <a:b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800000"/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800000"/>
                </a:solidFill>
                <a:latin typeface="APL385 Unicode" panose="020B0709000202000203" pitchFamily="49" charset="0"/>
              </a:rPr>
              <a:t>EndHold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∇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6C7D38-3575-BE63-530C-21CAD579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Synchronisation Strategies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97078D2-07A6-B470-57B7-35B0D547EF7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CA8C520-42D9-3B04-6A72-2115385626FA}"/>
              </a:ext>
            </a:extLst>
          </p:cNvPr>
          <p:cNvSpPr txBox="1">
            <a:spLocks/>
          </p:cNvSpPr>
          <p:nvPr/>
        </p:nvSpPr>
        <p:spPr>
          <a:xfrm>
            <a:off x="5008050" y="1488989"/>
            <a:ext cx="3646894" cy="3017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 Read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r>
              <a:rPr lang="en-GB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snapshot</a:t>
            </a:r>
            <a:r>
              <a:rPr lang="en-GB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GB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STATE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808080"/>
                </a:solidFill>
                <a:latin typeface="APL385 Unicode" panose="020B0709000202000203" pitchFamily="49" charset="0"/>
              </a:rPr>
              <a:t>… use snapshot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</a:t>
            </a:r>
            <a:b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373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BDF37E-10FC-A9D4-6BED-900534EE1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488989"/>
            <a:ext cx="8631547" cy="3017976"/>
          </a:xfrm>
        </p:spPr>
        <p:txBody>
          <a:bodyPr numCol="1"/>
          <a:lstStyle/>
          <a:p>
            <a:r>
              <a:rPr lang="en-GB" dirty="0">
                <a:latin typeface="APL385 Unicode" panose="020B0709000202000203" pitchFamily="49" charset="0"/>
              </a:rPr>
              <a:t>⎕TALLOC </a:t>
            </a:r>
            <a:r>
              <a:rPr lang="en-GB" dirty="0"/>
              <a:t>	Reserve token range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⎕TPUT</a:t>
            </a:r>
            <a:r>
              <a:rPr lang="en-GB" dirty="0"/>
              <a:t>		Put token in the pool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⎕TGET </a:t>
            </a:r>
            <a:r>
              <a:rPr lang="en-GB" dirty="0"/>
              <a:t>		Request token from the pool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⎕TPOOL </a:t>
            </a:r>
            <a:r>
              <a:rPr lang="en-GB" dirty="0"/>
              <a:t>		Inspect token pool</a:t>
            </a:r>
          </a:p>
          <a:p>
            <a:r>
              <a:rPr lang="en-GB" dirty="0">
                <a:latin typeface="APL385 Unicode" panose="020B0709000202000203" pitchFamily="49" charset="0"/>
              </a:rPr>
              <a:t>⎕TREQ </a:t>
            </a:r>
            <a:r>
              <a:rPr lang="en-GB" dirty="0"/>
              <a:t>		Which tokens requested by thread TID?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5DA718-AC1F-0CDB-4D89-B0CBFD00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Token Pool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64949D8-B10F-A71D-9867-28A625E2BF3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7064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17971B-5568-5C53-61C4-93187B2D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88989"/>
            <a:ext cx="2924999" cy="301797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∇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AddJob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job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job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⎕TPUT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TOK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br>
              <a:rPr lang="en-GB" dirty="0">
                <a:latin typeface="Courier New" panose="020703090202050204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BBAF41-BD5F-25FD-30A3-12792FC7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Queue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28BAB24-A253-08E5-7DA5-6587CD9092F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C314D1D-9A27-11D4-6547-C0DB9A424132}"/>
              </a:ext>
            </a:extLst>
          </p:cNvPr>
          <p:cNvSpPr txBox="1">
            <a:spLocks/>
          </p:cNvSpPr>
          <p:nvPr/>
        </p:nvSpPr>
        <p:spPr>
          <a:xfrm>
            <a:off x="3764559" y="1488989"/>
            <a:ext cx="4432957" cy="3017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A13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ProcessQueue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arg</a:t>
            </a:r>
            <a:r>
              <a:rPr lang="en-GB" dirty="0" err="1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;</a:t>
            </a:r>
            <a:r>
              <a:rPr lang="en-GB" dirty="0" err="1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job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:While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ON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job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⎕TGET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TOK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Process </a:t>
            </a:r>
            <a:r>
              <a:rPr lang="en-GB" dirty="0">
                <a:solidFill>
                  <a:srgbClr val="808080"/>
                </a:solidFill>
                <a:effectLst/>
                <a:latin typeface="APL385 Unicode" panose="020B0709000202000203" pitchFamily="49" charset="0"/>
              </a:rPr>
              <a:t>job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EndWhile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br>
              <a:rPr lang="en-GB" dirty="0">
                <a:latin typeface="Courier New" panose="020703090202050204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APL385 Unicode" panose="020B0709000202000203" pitchFamily="49" charset="0"/>
              </a:rPr>
              <a:t>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83296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64415-33E9-7C04-3E89-5243D666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Token releases on exit from :Hold structure</a:t>
            </a:r>
          </a:p>
          <a:p>
            <a:pPr lvl="1"/>
            <a:r>
              <a:rPr lang="en-GB" dirty="0"/>
              <a:t>Even if the thread dies</a:t>
            </a:r>
          </a:p>
          <a:p>
            <a:r>
              <a:rPr lang="en-GB" dirty="0"/>
              <a:t>Token pool has no such guarantees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5B21B8-2B99-2D3B-CA8E-7DC5E115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L385 Unicode" panose="020B0709000202000203" pitchFamily="49" charset="0"/>
              </a:rPr>
              <a:t>:Hold</a:t>
            </a:r>
            <a:r>
              <a:rPr lang="en-GB" dirty="0"/>
              <a:t> vs </a:t>
            </a:r>
            <a:r>
              <a:rPr lang="en-GB" dirty="0">
                <a:latin typeface="APL385 Unicode" panose="020B0709000202000203" pitchFamily="49" charset="0"/>
              </a:rPr>
              <a:t>⎕TPOOL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19C509B-295F-3E81-732D-72EB38209CA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1869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CFABFF-2DE9-2FBE-FF77-47665CF2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Search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DCC004F-0EC1-5EEB-7BBD-572EA164E2F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FE1EC-EE0A-65AC-BA16-5D86433CC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488989"/>
            <a:ext cx="8700157" cy="3017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effectLst/>
                <a:latin typeface="APL385 Unicode" panose="020B0709000202000203" pitchFamily="49" charset="0"/>
              </a:rPr>
              <a:t>   ]get -u github.com/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dyalog</a:t>
            </a:r>
            <a:r>
              <a:rPr lang="en-GB" dirty="0">
                <a:effectLst/>
                <a:latin typeface="APL385 Unicode" panose="020B0709000202000203" pitchFamily="49" charset="0"/>
              </a:rPr>
              <a:t>-training/2026-MA3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#.Demos #.Performance #.Seats #.WordSearch</a:t>
            </a:r>
          </a:p>
          <a:p>
            <a:pPr marL="0" indent="0">
              <a:buNone/>
            </a:pPr>
            <a:r>
              <a:rPr lang="en-GB" dirty="0">
                <a:effectLst/>
                <a:latin typeface="APL385 Unicode" panose="020B0709000202000203" pitchFamily="49" charset="0"/>
              </a:rPr>
              <a:t>   ]map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WordSearch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#.WordSearch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· ~ CORPUS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· ∇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AddWords</a:t>
            </a:r>
            <a:r>
              <a:rPr lang="en-GB" dirty="0"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Dist</a:t>
            </a:r>
            <a:r>
              <a:rPr lang="en-GB" dirty="0"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ScenarioA</a:t>
            </a:r>
            <a:r>
              <a:rPr lang="en-GB" dirty="0">
                <a:effectLst/>
                <a:latin typeface="APL385 Unicode" panose="020B0709000202000203" pitchFamily="49" charset="0"/>
              </a:rPr>
              <a:t> Search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30020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1A28-381A-77D2-8404-D793F225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127BD2-C891-3B7F-395C-BE73CE36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Search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DDB094A-5A29-6CF0-7672-3EDB6028677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C426D-A08A-5F3D-F50D-4F2FCDF1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effectLst/>
                <a:latin typeface="APL385 Unicode" panose="020B0709000202000203" pitchFamily="49" charset="0"/>
              </a:rPr>
              <a:t>      (WORDS DIST)←''(0 0⍴0)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AddWords</a:t>
            </a:r>
            <a:r>
              <a:rPr lang="en-GB" dirty="0">
                <a:effectLst/>
                <a:latin typeface="APL385 Unicode" panose="020B0709000202000203" pitchFamily="49" charset="0"/>
              </a:rPr>
              <a:t> 'apple' 'bob' 'cob' 'sample'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4 words added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AddWords</a:t>
            </a:r>
            <a:r>
              <a:rPr lang="en-GB" dirty="0">
                <a:effectLst/>
                <a:latin typeface="APL385 Unicode" panose="020B0709000202000203" pitchFamily="49" charset="0"/>
              </a:rPr>
              <a:t> 'apple' 'bob' 'cob' 'simple'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1 words added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Search¨'apple</a:t>
            </a:r>
            <a:r>
              <a:rPr lang="en-GB" dirty="0">
                <a:effectLst/>
                <a:latin typeface="APL385 Unicode" panose="020B0709000202000203" pitchFamily="49" charset="0"/>
              </a:rPr>
              <a:t>' 'cob' 'unknown'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┌──────┬───┬───────────────┐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│</a:t>
            </a:r>
            <a:r>
              <a:rPr lang="en-GB" dirty="0" err="1">
                <a:effectLst/>
                <a:latin typeface="APL385 Unicode" panose="020B0709000202000203" pitchFamily="49" charset="0"/>
              </a:rPr>
              <a:t>sample│bob│Word</a:t>
            </a:r>
            <a:r>
              <a:rPr lang="en-GB" dirty="0">
                <a:effectLst/>
                <a:latin typeface="APL385 Unicode" panose="020B0709000202000203" pitchFamily="49" charset="0"/>
              </a:rPr>
              <a:t> not found.│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└──────┴───┴───────────────┘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72002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4A155-4A03-478A-E14A-A2481ED6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238" y="2228983"/>
            <a:ext cx="2797524" cy="68553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4000" dirty="0"/>
              <a:t>Final Quiz</a:t>
            </a:r>
          </a:p>
        </p:txBody>
      </p:sp>
    </p:spTree>
    <p:extLst>
      <p:ext uri="{BB962C8B-B14F-4D97-AF65-F5344CB8AC3E}">
        <p14:creationId xmlns:p14="http://schemas.microsoft.com/office/powerpoint/2010/main" val="25560719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7F63-52E7-1175-6E4E-170D751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9F8230-FE6F-18FA-EAD7-CB751A80A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What's the difference between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>
                <a:latin typeface="APL385 Unicode" panose="020B0709000202000203" pitchFamily="49" charset="0"/>
              </a:rPr>
              <a:t>F&amp;¨1 2 3</a:t>
            </a:r>
          </a:p>
          <a:p>
            <a:pPr marL="0" indent="0">
              <a:buNone/>
            </a:pPr>
            <a:r>
              <a:rPr lang="en-GB" dirty="0"/>
              <a:t>and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>
                <a:latin typeface="APL385 Unicode" panose="020B0709000202000203" pitchFamily="49" charset="0"/>
              </a:rPr>
              <a:t>F¨&amp;1 2 3</a:t>
            </a:r>
          </a:p>
          <a:p>
            <a:pPr marL="0" indent="0">
              <a:buNone/>
            </a:pPr>
            <a:r>
              <a:rPr lang="en-GB" dirty="0"/>
              <a:t>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6B726B3-B781-EE7E-11F9-ACA476C3DBD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1550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3146F5-0FBB-F10F-29B4-7EE513AEB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finishes first, A or B?</a:t>
            </a:r>
          </a:p>
          <a:p>
            <a:pPr marL="457200" indent="-457200">
              <a:buFont typeface="+mj-lt"/>
              <a:buAutoNum type="alphaUcPeriod"/>
            </a:pPr>
            <a:r>
              <a:rPr lang="en-GB" dirty="0">
                <a:latin typeface="APL385 Unicode" panose="020B0709000202000203" pitchFamily="49" charset="0"/>
              </a:rPr>
              <a:t>r ← ⎕TSYNC </a:t>
            </a:r>
            <a:r>
              <a:rPr lang="en-GB" dirty="0" err="1">
                <a:latin typeface="APL385 Unicode" panose="020B0709000202000203" pitchFamily="49" charset="0"/>
              </a:rPr>
              <a:t>HttpCommand.Get</a:t>
            </a:r>
            <a:r>
              <a:rPr lang="en-GB" dirty="0">
                <a:latin typeface="APL385 Unicode" panose="020B0709000202000203" pitchFamily="49" charset="0"/>
              </a:rPr>
              <a:t>&amp;¨url1 url2 url3</a:t>
            </a:r>
          </a:p>
          <a:p>
            <a:pPr marL="457200" indent="-457200">
              <a:buFont typeface="+mj-lt"/>
              <a:buAutoNum type="alphaUcPeriod"/>
            </a:pPr>
            <a:r>
              <a:rPr lang="en-GB" dirty="0">
                <a:latin typeface="APL385 Unicode" panose="020B0709000202000203" pitchFamily="49" charset="0"/>
              </a:rPr>
              <a:t>r ←        </a:t>
            </a:r>
            <a:r>
              <a:rPr lang="en-GB" dirty="0" err="1">
                <a:latin typeface="APL385 Unicode" panose="020B0709000202000203" pitchFamily="49" charset="0"/>
              </a:rPr>
              <a:t>HttpCommand.Get</a:t>
            </a:r>
            <a:r>
              <a:rPr lang="en-GB" dirty="0">
                <a:latin typeface="APL385 Unicode" panose="020B0709000202000203" pitchFamily="49" charset="0"/>
              </a:rPr>
              <a:t>¨ url1 url2 url3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E3D4A64-7861-FD53-12D8-5C08C5463FA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9203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81CA-1103-2CF9-9AED-9BB7E0EE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0779E-EADA-63C4-67D4-756195963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finishes first, A or B?</a:t>
            </a:r>
          </a:p>
          <a:p>
            <a:pPr marL="457200" indent="-457200">
              <a:buFont typeface="+mj-lt"/>
              <a:buAutoNum type="alphaUcPeriod"/>
            </a:pPr>
            <a:r>
              <a:rPr lang="en-GB" dirty="0">
                <a:latin typeface="APL385 Unicode" panose="020B0709000202000203" pitchFamily="49" charset="0"/>
              </a:rPr>
              <a:t>r ← ⎕TSYNC (+⌿÷≢)&amp;¨var1 var2 var3</a:t>
            </a:r>
          </a:p>
          <a:p>
            <a:pPr marL="457200" indent="-457200">
              <a:buFont typeface="+mj-lt"/>
              <a:buAutoNum type="alphaUcPeriod"/>
            </a:pPr>
            <a:r>
              <a:rPr lang="en-GB" dirty="0">
                <a:latin typeface="APL385 Unicode" panose="020B0709000202000203" pitchFamily="49" charset="0"/>
              </a:rPr>
              <a:t>r ←        (+⌿÷≢)¨ var1 var2 var3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3691406-0739-DD0D-F358-0AFD2965C6A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6267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0882-441D-F80A-40AC-9EABD08C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CB9B78-3702-3218-89A1-0FA273B9A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+mj-lt"/>
              </a:rPr>
              <a:t>Why can this result in a 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VALUE ERROR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</a:rPr>
              <a:t>?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tid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DoThing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&amp;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arg</a:t>
            </a:r>
            <a:br>
              <a:rPr lang="en-GB" dirty="0">
                <a:effectLst/>
                <a:latin typeface="APL385 Unicode" panose="020B0709000202000203" pitchFamily="49" charset="0"/>
              </a:rPr>
            </a:br>
            <a:r>
              <a:rPr lang="en-GB" dirty="0">
                <a:effectLst/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r 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⎕TSYNC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tid</a:t>
            </a:r>
            <a:endParaRPr lang="en-GB" dirty="0">
              <a:solidFill>
                <a:srgbClr val="000000"/>
              </a:solidFill>
              <a:effectLst/>
              <a:latin typeface="APL385 Unicode" panose="020B0709000202000203" pitchFamily="49" charset="0"/>
            </a:endParaRP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DD4B607-8D06-5D3B-E315-75AF5FF0A91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DD2C36-FC5F-E786-7EE3-B42B6736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0349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8F067-CF20-9DF2-93FE-59EB1369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9605E0-3153-5B87-8875-FAD16756F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Is this a deadlock?</a:t>
            </a:r>
          </a:p>
          <a:p>
            <a:pPr marL="0" indent="0">
              <a:buNone/>
            </a:pP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:Hold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'A'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'B'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:Hold</a:t>
            </a: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'B'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    </a:t>
            </a:r>
            <a:r>
              <a:rPr lang="en-GB" dirty="0">
                <a:solidFill>
                  <a:srgbClr val="000080"/>
                </a:solidFill>
                <a:effectLst/>
                <a:latin typeface="APL385 Unicode" panose="020B0709000202000203" pitchFamily="49" charset="0"/>
              </a:rPr>
              <a:t>⎕</a:t>
            </a:r>
            <a:r>
              <a:rPr lang="en-GB" dirty="0">
                <a:solidFill>
                  <a:srgbClr val="0000FF"/>
                </a:solidFill>
                <a:effectLst/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8080"/>
                </a:solidFill>
                <a:effectLst/>
                <a:latin typeface="APL385 Unicode" panose="020B0709000202000203" pitchFamily="49" charset="0"/>
              </a:rPr>
              <a:t>'uh oh'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EndHold</a:t>
            </a:r>
            <a:br>
              <a:rPr lang="en-GB" dirty="0">
                <a:solidFill>
                  <a:srgbClr val="000000"/>
                </a:solidFill>
                <a:effectLst/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800000"/>
                </a:solidFill>
                <a:effectLst/>
                <a:latin typeface="APL385 Unicode" panose="020B0709000202000203" pitchFamily="49" charset="0"/>
              </a:rPr>
              <a:t>EndHold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D87A859-A2C9-1690-C514-0FCB39E3B3A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0064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634F91-A876-F0A2-016B-9AC943D4C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543" y="1222159"/>
            <a:ext cx="3284806" cy="328480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E94639D-8545-93D9-7F4B-5588DD1A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077AB10-C0D2-E658-843D-6D74500668E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59FC0D-61DF-B429-7858-6D9CA618AF1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24886" y="2502882"/>
            <a:ext cx="4783048" cy="48650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4" tooltip="https://dyalog.fillout.com/feedback"/>
              </a:rPr>
              <a:t>https://feedback.dyalog.com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24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 2025.6">
      <a:dk1>
        <a:srgbClr val="232222"/>
      </a:dk1>
      <a:lt1>
        <a:sysClr val="window" lastClr="FFFFFF"/>
      </a:lt1>
      <a:dk2>
        <a:srgbClr val="2A3244"/>
      </a:dk2>
      <a:lt2>
        <a:srgbClr val="F2F1F0"/>
      </a:lt2>
      <a:accent1>
        <a:srgbClr val="FF6A13"/>
      </a:accent1>
      <a:accent2>
        <a:srgbClr val="8986CA"/>
      </a:accent2>
      <a:accent3>
        <a:srgbClr val="003B5C"/>
      </a:accent3>
      <a:accent4>
        <a:srgbClr val="FFA300"/>
      </a:accent4>
      <a:accent5>
        <a:srgbClr val="CA2E51"/>
      </a:accent5>
      <a:accent6>
        <a:srgbClr val="FF6A13"/>
      </a:accent6>
      <a:hlink>
        <a:srgbClr val="FF6A13"/>
      </a:hlink>
      <a:folHlink>
        <a:srgbClr val="FF6A13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9316</TotalTime>
  <Words>1800</Words>
  <Application>Microsoft Office PowerPoint</Application>
  <PresentationFormat>On-screen Show (16:9)</PresentationFormat>
  <Paragraphs>335</Paragraphs>
  <Slides>65</Slides>
  <Notes>16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Calibri</vt:lpstr>
      <vt:lpstr>Courier New</vt:lpstr>
      <vt:lpstr>Sarabun</vt:lpstr>
      <vt:lpstr>Arial</vt:lpstr>
      <vt:lpstr>Wingdings 2</vt:lpstr>
      <vt:lpstr>APL385 Unicode</vt:lpstr>
      <vt:lpstr>Office Theme</vt:lpstr>
      <vt:lpstr>Concurrent Programming in Dyalog</vt:lpstr>
      <vt:lpstr>This workshop</vt:lpstr>
      <vt:lpstr>Concurrency &amp; Parallelism</vt:lpstr>
      <vt:lpstr>Recipe ≈ algorithm</vt:lpstr>
      <vt:lpstr>Recipe ≈ algorithm</vt:lpstr>
      <vt:lpstr>Concurrency vs Parallelism</vt:lpstr>
      <vt:lpstr>Concurrency vs Parallelism</vt:lpstr>
      <vt:lpstr>Learning Objectives</vt:lpstr>
      <vt:lpstr>When do we want concurrency?</vt:lpstr>
      <vt:lpstr>When do we want to implement concurrency?</vt:lpstr>
      <vt:lpstr>Green Threads</vt:lpstr>
      <vt:lpstr>Green Threads</vt:lpstr>
      <vt:lpstr>Futures and Isolates</vt:lpstr>
      <vt:lpstr>Industry Standard</vt:lpstr>
      <vt:lpstr>Further Reading</vt:lpstr>
      <vt:lpstr>Overview</vt:lpstr>
      <vt:lpstr>Results of Concurrent Calls</vt:lpstr>
      <vt:lpstr>Results of Concurrent Calls</vt:lpstr>
      <vt:lpstr>Results of Concurrent Calls</vt:lpstr>
      <vt:lpstr>Results of Concurrent Calls</vt:lpstr>
      <vt:lpstr>Parallelisation Performance</vt:lpstr>
      <vt:lpstr>Parallelisation Performance</vt:lpstr>
      <vt:lpstr>Parallelisation Performance</vt:lpstr>
      <vt:lpstr>Parallelisation Performance</vt:lpstr>
      <vt:lpstr>Parallelisation Performance</vt:lpstr>
      <vt:lpstr>Parallelisation Performance</vt:lpstr>
      <vt:lpstr>Parallelisation Performance</vt:lpstr>
      <vt:lpstr>APL Thread Safety</vt:lpstr>
      <vt:lpstr>APL Thread Safety</vt:lpstr>
      <vt:lpstr>Isolates &amp; Green Threads</vt:lpstr>
      <vt:lpstr>Isolates &amp; Green Threads</vt:lpstr>
      <vt:lpstr>Isolates &amp; Green Threads</vt:lpstr>
      <vt:lpstr>Isolates &amp; Green Threads</vt:lpstr>
      <vt:lpstr>Isolates &amp; Green Threads</vt:lpstr>
      <vt:lpstr>Spawn (&amp;)</vt:lpstr>
      <vt:lpstr>Shared State</vt:lpstr>
      <vt:lpstr>:Hold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Thread Management</vt:lpstr>
      <vt:lpstr>Thread Switching</vt:lpstr>
      <vt:lpstr>Shared State &amp; Holds</vt:lpstr>
      <vt:lpstr>PowerPoint Presentation</vt:lpstr>
      <vt:lpstr>Sharing Between Threads</vt:lpstr>
      <vt:lpstr>Synchronisation Strategies</vt:lpstr>
      <vt:lpstr>Synchronisation Strategies</vt:lpstr>
      <vt:lpstr>Synchronisation Strategies</vt:lpstr>
      <vt:lpstr>Token Pool</vt:lpstr>
      <vt:lpstr>Queue</vt:lpstr>
      <vt:lpstr>:Hold vs ⎕TPOOL</vt:lpstr>
      <vt:lpstr>Word Search</vt:lpstr>
      <vt:lpstr>Word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430</cp:revision>
  <dcterms:created xsi:type="dcterms:W3CDTF">2019-07-25T11:46:05Z</dcterms:created>
  <dcterms:modified xsi:type="dcterms:W3CDTF">2026-10-10T15:29:17Z</dcterms:modified>
</cp:coreProperties>
</file>