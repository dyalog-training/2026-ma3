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embedTrueTypeFonts="1">
  <p:sldMasterIdLst>
    <p:sldMasterId id="2147483648" r:id="rId1"/>
  </p:sldMasterIdLst>
  <p:notesMasterIdLst>
    <p:notesMasterId r:id="rId67"/>
  </p:notesMasterIdLst>
  <p:handoutMasterIdLst>
    <p:handoutMasterId r:id="rId68"/>
  </p:handoutMasterIdLst>
  <p:sldIdLst>
    <p:sldId id="257" r:id="rId2"/>
    <p:sldId id="259" r:id="rId3"/>
    <p:sldId id="258" r:id="rId4"/>
    <p:sldId id="324" r:id="rId5"/>
    <p:sldId id="328" r:id="rId6"/>
    <p:sldId id="280" r:id="rId7"/>
    <p:sldId id="319" r:id="rId8"/>
    <p:sldId id="260" r:id="rId9"/>
    <p:sldId id="261" r:id="rId10"/>
    <p:sldId id="262" r:id="rId11"/>
    <p:sldId id="263" r:id="rId12"/>
    <p:sldId id="268" r:id="rId13"/>
    <p:sldId id="265" r:id="rId14"/>
    <p:sldId id="267" r:id="rId15"/>
    <p:sldId id="264" r:id="rId16"/>
    <p:sldId id="282" r:id="rId17"/>
    <p:sldId id="330" r:id="rId18"/>
    <p:sldId id="331" r:id="rId19"/>
    <p:sldId id="288" r:id="rId20"/>
    <p:sldId id="289" r:id="rId21"/>
    <p:sldId id="266" r:id="rId22"/>
    <p:sldId id="340" r:id="rId23"/>
    <p:sldId id="269" r:id="rId24"/>
    <p:sldId id="293" r:id="rId25"/>
    <p:sldId id="271" r:id="rId26"/>
    <p:sldId id="341" r:id="rId27"/>
    <p:sldId id="273" r:id="rId28"/>
    <p:sldId id="272" r:id="rId29"/>
    <p:sldId id="295" r:id="rId30"/>
    <p:sldId id="320" r:id="rId31"/>
    <p:sldId id="332" r:id="rId32"/>
    <p:sldId id="333" r:id="rId33"/>
    <p:sldId id="334" r:id="rId34"/>
    <p:sldId id="335" r:id="rId35"/>
    <p:sldId id="284" r:id="rId36"/>
    <p:sldId id="321" r:id="rId37"/>
    <p:sldId id="296" r:id="rId38"/>
    <p:sldId id="298" r:id="rId39"/>
    <p:sldId id="299" r:id="rId40"/>
    <p:sldId id="301" r:id="rId41"/>
    <p:sldId id="300" r:id="rId42"/>
    <p:sldId id="302" r:id="rId43"/>
    <p:sldId id="303" r:id="rId44"/>
    <p:sldId id="304" r:id="rId45"/>
    <p:sldId id="305" r:id="rId46"/>
    <p:sldId id="309" r:id="rId47"/>
    <p:sldId id="290" r:id="rId48"/>
    <p:sldId id="276" r:id="rId49"/>
    <p:sldId id="336" r:id="rId50"/>
    <p:sldId id="337" r:id="rId51"/>
    <p:sldId id="292" r:id="rId52"/>
    <p:sldId id="345" r:id="rId53"/>
    <p:sldId id="347" r:id="rId54"/>
    <p:sldId id="310" r:id="rId55"/>
    <p:sldId id="348" r:id="rId56"/>
    <p:sldId id="349" r:id="rId57"/>
    <p:sldId id="277" r:id="rId58"/>
    <p:sldId id="323" r:id="rId59"/>
    <p:sldId id="311" r:id="rId60"/>
    <p:sldId id="312" r:id="rId61"/>
    <p:sldId id="313" r:id="rId62"/>
    <p:sldId id="314" r:id="rId63"/>
    <p:sldId id="339" r:id="rId64"/>
    <p:sldId id="344" r:id="rId65"/>
    <p:sldId id="342" r:id="rId66"/>
  </p:sldIdLst>
  <p:sldSz cx="9144000" cy="5143500" type="screen16x9"/>
  <p:notesSz cx="6858000" cy="9144000"/>
  <p:embeddedFontLst>
    <p:embeddedFont>
      <p:font typeface="APL385 Unicode" panose="020B0709000202000203" pitchFamily="49" charset="0"/>
      <p:regular r:id="rId69"/>
    </p:embeddedFont>
    <p:embeddedFont>
      <p:font typeface="Sarabun" panose="00000500000000000000" pitchFamily="2" charset="-34"/>
      <p:regular r:id="rId70"/>
      <p:bold r:id="rId71"/>
      <p:italic r:id="rId72"/>
      <p:boldItalic r:id="rId73"/>
    </p:embeddedFont>
    <p:embeddedFont>
      <p:font typeface="Wingdings 2" panose="05020102010507070707" pitchFamily="18" charset="2"/>
      <p:regular r:id="rId6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C2803"/>
    <a:srgbClr val="FF6600"/>
    <a:srgbClr val="5A6D8F"/>
    <a:srgbClr val="3B475E"/>
    <a:srgbClr val="ED7F00"/>
    <a:srgbClr val="FDFDF5"/>
    <a:srgbClr val="F6F6D9"/>
    <a:srgbClr val="BBB5D6"/>
    <a:srgbClr val="928ABD"/>
    <a:srgbClr val="37353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71" autoAdjust="0"/>
    <p:restoredTop sz="87320" autoAdjust="0"/>
  </p:normalViewPr>
  <p:slideViewPr>
    <p:cSldViewPr snapToGrid="0">
      <p:cViewPr varScale="1">
        <p:scale>
          <a:sx n="95" d="100"/>
          <a:sy n="95" d="100"/>
        </p:scale>
        <p:origin x="350" y="53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6" d="100"/>
          <a:sy n="96" d="100"/>
        </p:scale>
        <p:origin x="4878" y="10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handoutMaster" Target="handoutMasters/handout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font" Target="NUL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3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font" Target="fonts/font1.fntdata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font" Target="fonts/font2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A6A3BD-28BD-4949-B52F-24E999822598}" type="datetimeFigureOut">
              <a:rPr lang="en-GB" smtClean="0">
                <a:latin typeface="Sarabun" panose="00000500000000000000" pitchFamily="2" charset="-34"/>
              </a:rPr>
              <a:t>06/10/2026</a:t>
            </a:fld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7370AB-76A5-41F1-9753-9FE7E667F0C0}" type="slidenum">
              <a:rPr lang="en-GB" smtClean="0">
                <a:latin typeface="Sarabun" panose="00000500000000000000" pitchFamily="2" charset="-34"/>
              </a:rPr>
              <a:t>‹#›</a:t>
            </a:fld>
            <a:endParaRPr lang="en-GB" dirty="0">
              <a:latin typeface="Sarabun" panose="00000500000000000000" pitchFamily="2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56471822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Sarabun" panose="00000500000000000000" pitchFamily="2" charset="-34"/>
              </a:defRPr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Sarabun" panose="00000500000000000000" pitchFamily="2" charset="-34"/>
              </a:defRPr>
            </a:lvl1pPr>
          </a:lstStyle>
          <a:p>
            <a:fld id="{CDEAEF8A-5BB8-41C8-B8C2-160617C17EF4}" type="datetimeFigureOut">
              <a:rPr lang="en-GB" smtClean="0"/>
              <a:pPr/>
              <a:t>06/10/2026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Sarabun" panose="00000500000000000000" pitchFamily="2" charset="-34"/>
              </a:defRPr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Sarabun" panose="00000500000000000000" pitchFamily="2" charset="-34"/>
              </a:defRPr>
            </a:lvl1pPr>
          </a:lstStyle>
          <a:p>
            <a:fld id="{4320660A-27FD-4528-AE7F-EC6080404EE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121339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We can do some things simultaneously, but there are dependencies that we have to coordinate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20660A-27FD-4528-AE7F-EC6080404EEB}" type="slidenum">
              <a:rPr lang="en-GB" smtClean="0"/>
              <a:pPr/>
              <a:t>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136088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Ask for suggestions from the audience</a:t>
            </a:r>
          </a:p>
          <a:p>
            <a:r>
              <a:rPr lang="en-GB" dirty="0"/>
              <a:t>Hiding latency e.g. when service needs to respond</a:t>
            </a:r>
          </a:p>
          <a:p>
            <a:r>
              <a:rPr lang="en-GB" dirty="0"/>
              <a:t>Protection of modules e.g. independent tabs in a browser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20660A-27FD-4528-AE7F-EC6080404EEB}" type="slidenum">
              <a:rPr lang="en-GB" smtClean="0"/>
              <a:pPr/>
              <a:t>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654390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Moore's law – scalability easier with distributed systems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20660A-27FD-4528-AE7F-EC6080404EEB}" type="slidenum">
              <a:rPr lang="en-GB" smtClean="0"/>
              <a:pPr/>
              <a:t>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0839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"co-operative" multi-tasking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20660A-27FD-4528-AE7F-EC6080404EEB}" type="slidenum">
              <a:rPr lang="en-GB" smtClean="0"/>
              <a:pPr/>
              <a:t>11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811169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kern="1200" dirty="0">
                <a:solidFill>
                  <a:schemeClr val="tx1"/>
                </a:solidFill>
                <a:effectLst/>
                <a:latin typeface="Sarabun" panose="00000500000000000000" pitchFamily="2" charset="-34"/>
                <a:ea typeface="+mn-ea"/>
                <a:cs typeface="+mn-cs"/>
              </a:rPr>
              <a:t>Demos:</a:t>
            </a:r>
          </a:p>
          <a:p>
            <a:r>
              <a:rPr lang="en-GB" sz="1200" kern="1200" dirty="0">
                <a:solidFill>
                  <a:schemeClr val="tx1"/>
                </a:solidFill>
                <a:effectLst/>
                <a:latin typeface="Sarabun" panose="00000500000000000000" pitchFamily="2" charset="-34"/>
                <a:ea typeface="+mn-ea"/>
                <a:cs typeface="+mn-cs"/>
              </a:rPr>
              <a:t>p←1 0 1 0 0 ⊂ {_←⎕DL 10 ⋄ ⎕A[⍵]}IÏ⍳5</a:t>
            </a:r>
            <a:r>
              <a:rPr lang="en-GB" sz="1200" kern="1200" dirty="0">
                <a:solidFill>
                  <a:schemeClr val="tx1"/>
                </a:solidFill>
                <a:latin typeface="Sarabun" panose="00000500000000000000" pitchFamily="2" charset="-34"/>
                <a:ea typeface="+mn-ea"/>
                <a:cs typeface="+mn-cs"/>
              </a:rPr>
              <a:t> </a:t>
            </a:r>
            <a:endParaRPr lang="en-GB" sz="1200" kern="1200" dirty="0">
              <a:solidFill>
                <a:schemeClr val="tx1"/>
              </a:solidFill>
              <a:effectLst/>
              <a:latin typeface="Sarabun" panose="00000500000000000000" pitchFamily="2" charset="-34"/>
              <a:ea typeface="+mn-ea"/>
              <a:cs typeface="+mn-cs"/>
            </a:endParaRPr>
          </a:p>
          <a:p>
            <a:r>
              <a:rPr lang="en-GB" sz="1200" kern="1200" dirty="0">
                <a:solidFill>
                  <a:schemeClr val="tx1"/>
                </a:solidFill>
                <a:effectLst/>
                <a:latin typeface="Sarabun" panose="00000500000000000000" pitchFamily="2" charset="-34"/>
                <a:ea typeface="+mn-ea"/>
                <a:cs typeface="+mn-cs"/>
              </a:rPr>
              <a:t>p←{_←⎕DL 10 ⋄ ⎕A[⍵]}IÏ⍳5</a:t>
            </a:r>
            <a:r>
              <a:rPr lang="en-GB" sz="1200" kern="1200" dirty="0">
                <a:solidFill>
                  <a:schemeClr val="tx1"/>
                </a:solidFill>
                <a:latin typeface="Sarabun" panose="00000500000000000000" pitchFamily="2" charset="-34"/>
                <a:ea typeface="+mn-ea"/>
                <a:cs typeface="+mn-cs"/>
              </a:rPr>
              <a:t> </a:t>
            </a:r>
            <a:endParaRPr lang="en-GB" sz="1200" kern="1200" dirty="0">
              <a:solidFill>
                <a:schemeClr val="tx1"/>
              </a:solidFill>
              <a:effectLst/>
              <a:latin typeface="Sarabun" panose="00000500000000000000" pitchFamily="2" charset="-34"/>
              <a:ea typeface="+mn-ea"/>
              <a:cs typeface="+mn-cs"/>
            </a:endParaRPr>
          </a:p>
          <a:p>
            <a:r>
              <a:rPr lang="en-GB" sz="1200" kern="1200" dirty="0">
                <a:solidFill>
                  <a:schemeClr val="tx1"/>
                </a:solidFill>
                <a:effectLst/>
                <a:latin typeface="Sarabun" panose="00000500000000000000" pitchFamily="2" charset="-34"/>
                <a:ea typeface="+mn-ea"/>
                <a:cs typeface="+mn-cs"/>
              </a:rPr>
              <a:t>p←3⌽{_←⎕DL 10 ⋄ ⎕A[⍵]}IÏ⍳5</a:t>
            </a:r>
            <a:r>
              <a:rPr lang="en-GB" sz="1200" kern="1200" dirty="0">
                <a:solidFill>
                  <a:schemeClr val="tx1"/>
                </a:solidFill>
                <a:latin typeface="Sarabun" panose="00000500000000000000" pitchFamily="2" charset="-34"/>
                <a:ea typeface="+mn-ea"/>
                <a:cs typeface="+mn-cs"/>
              </a:rPr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20660A-27FD-4528-AE7F-EC6080404EEB}" type="slidenum">
              <a:rPr lang="en-GB" smtClean="0"/>
              <a:pPr/>
              <a:t>12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760814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70690-57D6-59AE-79D0-E9E87D711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446847-C478-2197-D8C4-5EB086CF5C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8C58EA-DE25-9479-F9D7-49A6C4BCD4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FIXME line spacing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FEEC5D-A9CA-1C38-C4C3-89F406EDF1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20660A-27FD-4528-AE7F-EC6080404EEB}" type="slidenum">
              <a:rPr lang="en-GB" smtClean="0"/>
              <a:pPr/>
              <a:t>16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037479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EDB17-2B70-4FF6-DB67-2EA9B328D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9786FE-84EA-188E-64ED-9FB3E1DF66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F22FF5-4FF4-14BB-C280-DA253E68FD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FIXME line spacing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5F9BDE-6ABE-C340-96EC-ABBF085559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20660A-27FD-4528-AE7F-EC6080404EEB}" type="slidenum">
              <a:rPr lang="en-GB" smtClean="0"/>
              <a:pPr/>
              <a:t>17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620003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FIXME HTTP 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20660A-27FD-4528-AE7F-EC6080404EEB}" type="slidenum">
              <a:rPr lang="en-GB" smtClean="0"/>
              <a:pPr/>
              <a:t>19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819017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Multiple independent computations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20660A-27FD-4528-AE7F-EC6080404EEB}" type="slidenum">
              <a:rPr lang="en-GB" smtClean="0"/>
              <a:pPr/>
              <a:t>22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697145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5E2BA-2D13-220D-F8BA-B869C6158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38F3A3-405B-0B6C-DEFC-31A652F985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BFF44C-A3B9-B463-7869-1ABC2170A9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Multiple independent computations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1D54C5-4E77-34B6-3290-ECCB702C7E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20660A-27FD-4528-AE7F-EC6080404EEB}" type="slidenum">
              <a:rPr lang="en-GB" smtClean="0"/>
              <a:pPr/>
              <a:t>23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484438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8A8880-142C-9501-A972-E351992D5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AF98AA-42BF-8380-EAD2-B87849942F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F1825A-70A8-364C-D879-0EE7FEC35A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F574CC-5E5D-5688-E8A0-17F4D401E7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20660A-27FD-4528-AE7F-EC6080404EEB}" type="slidenum">
              <a:rPr lang="en-GB" smtClean="0"/>
              <a:pPr/>
              <a:t>24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184400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FDAA1-662E-7BDF-563F-1179F7338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D126F1-6980-D490-BD9A-CDD3369F3F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D016A8-406D-FD77-2968-4486BD5D72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Isolates can make Windows popup asking permission</a:t>
            </a:r>
          </a:p>
          <a:p>
            <a:r>
              <a:rPr lang="en-GB" dirty="0"/>
              <a:t>Isolate uses runtime 'terp by default, but configurable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A272D1-1658-E3D1-762B-BFF370CD71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20660A-27FD-4528-AE7F-EC6080404EEB}" type="slidenum">
              <a:rPr lang="en-GB" smtClean="0"/>
              <a:pPr/>
              <a:t>25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393268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AD1C8-60AB-D991-A9C3-9F291EDF8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8CED92-8803-8AFB-7DD4-7A0CECD4AA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952643-7DD1-26EC-1206-7DBBD95300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2EC7D2-2596-0A7D-C84B-CC949605E3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20660A-27FD-4528-AE7F-EC6080404EEB}" type="slidenum">
              <a:rPr lang="en-GB" smtClean="0"/>
              <a:pPr/>
              <a:t>26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3491270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FIXME maybe hide these, too much info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20660A-27FD-4528-AE7F-EC6080404EEB}" type="slidenum">
              <a:rPr lang="en-GB" smtClean="0"/>
              <a:pPr/>
              <a:t>29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153499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kern="1200" dirty="0">
                <a:solidFill>
                  <a:schemeClr val="tx1"/>
                </a:solidFill>
                <a:effectLst/>
                <a:latin typeface="Sarabun" panose="00000500000000000000" pitchFamily="2" charset="-34"/>
                <a:ea typeface="+mn-ea"/>
                <a:cs typeface="+mn-cs"/>
              </a:rPr>
              <a:t>G←0 ⋄ Increment¨4⍴2e5 ⋄ G</a:t>
            </a:r>
            <a:r>
              <a:rPr lang="en-GB" sz="1200" kern="1200" dirty="0">
                <a:solidFill>
                  <a:schemeClr val="tx1"/>
                </a:solidFill>
                <a:latin typeface="Sarabun" panose="00000500000000000000" pitchFamily="2" charset="-34"/>
                <a:ea typeface="+mn-ea"/>
                <a:cs typeface="+mn-cs"/>
              </a:rPr>
              <a:t> </a:t>
            </a:r>
          </a:p>
          <a:p>
            <a:r>
              <a:rPr lang="en-GB" sz="1200" kern="1200" dirty="0">
                <a:solidFill>
                  <a:schemeClr val="tx1"/>
                </a:solidFill>
                <a:effectLst/>
                <a:latin typeface="Sarabun" panose="00000500000000000000" pitchFamily="2" charset="-34"/>
                <a:ea typeface="+mn-ea"/>
                <a:cs typeface="+mn-cs"/>
              </a:rPr>
              <a:t>G←0 ⋄ ⎕TSYNC Increment&amp;¨4⍴2e5 ⋄ G</a:t>
            </a:r>
            <a:r>
              <a:rPr lang="en-GB" sz="1200" kern="1200" dirty="0">
                <a:solidFill>
                  <a:schemeClr val="tx1"/>
                </a:solidFill>
                <a:latin typeface="Sarabun" panose="00000500000000000000" pitchFamily="2" charset="-34"/>
                <a:ea typeface="+mn-ea"/>
                <a:cs typeface="+mn-cs"/>
              </a:rPr>
              <a:t> 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Sarabun" panose="00000500000000000000" pitchFamily="2" charset="-34"/>
                <a:ea typeface="+mn-ea"/>
                <a:cs typeface="+mn-cs"/>
              </a:rPr>
              <a:t>2 methods to synchronise access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Sarabun" panose="00000500000000000000" pitchFamily="2" charset="-34"/>
                <a:ea typeface="+mn-ea"/>
                <a:cs typeface="+mn-cs"/>
              </a:rPr>
              <a:t>  :Hold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Sarabun" panose="00000500000000000000" pitchFamily="2" charset="-34"/>
                <a:ea typeface="+mn-ea"/>
                <a:cs typeface="+mn-cs"/>
              </a:rPr>
              <a:t>  Put on one line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20660A-27FD-4528-AE7F-EC6080404EEB}" type="slidenum">
              <a:rPr lang="en-GB" smtClean="0"/>
              <a:pPr/>
              <a:t>47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4951338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Talk to Neil, Peter, Rich, Aaron about concurrency &amp; multithreading with Dyalog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20660A-27FD-4528-AE7F-EC6080404EEB}" type="slidenum">
              <a:rPr lang="en-GB" smtClean="0"/>
              <a:pPr/>
              <a:t>64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941671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45060" y="1688053"/>
            <a:ext cx="5073517" cy="1767394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algn="l">
              <a:lnSpc>
                <a:spcPct val="100000"/>
              </a:lnSpc>
              <a:defRPr sz="3600" b="0">
                <a:solidFill>
                  <a:srgbClr val="3B475E"/>
                </a:solidFill>
                <a:latin typeface="Sarabun" panose="00000500000000000000" pitchFamily="2" charset="-34"/>
              </a:defRPr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445061" y="3741620"/>
            <a:ext cx="5073516" cy="1024109"/>
          </a:xfrm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400" i="1" baseline="0">
                <a:solidFill>
                  <a:srgbClr val="3B475E"/>
                </a:solidFill>
                <a:latin typeface="Sarabun" panose="00000500000000000000" pitchFamily="2" charset="-34"/>
              </a:defRPr>
            </a:lvl1pPr>
          </a:lstStyle>
          <a:p>
            <a:pPr lvl="0"/>
            <a:r>
              <a:rPr lang="en-US" dirty="0"/>
              <a:t>Presenter</a:t>
            </a:r>
          </a:p>
        </p:txBody>
      </p:sp>
      <p:sp useBgFill="1">
        <p:nvSpPr>
          <p:cNvPr id="3" name="Rounded Rectangle 2"/>
          <p:cNvSpPr/>
          <p:nvPr userDrawn="1"/>
        </p:nvSpPr>
        <p:spPr>
          <a:xfrm>
            <a:off x="8616917" y="51470"/>
            <a:ext cx="405045" cy="2700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Sarabun" panose="00000500000000000000" pitchFamily="2" charset="-34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A7F93E-0AC9-4994-C087-EC47479093D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45060" y="577889"/>
            <a:ext cx="2186609" cy="734076"/>
          </a:xfrm>
          <a:prstGeom prst="rect">
            <a:avLst/>
          </a:prstGeom>
        </p:spPr>
      </p:pic>
      <p:sp>
        <p:nvSpPr>
          <p:cNvPr id="10" name="Media Placeholder 3">
            <a:extLst>
              <a:ext uri="{FF2B5EF4-FFF2-40B4-BE49-F238E27FC236}">
                <a16:creationId xmlns:a16="http://schemas.microsoft.com/office/drawing/2014/main" id="{A8C42A55-8D9A-E8BD-8457-92C7015F8BD3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2228C3-8F95-166E-8A09-DC52EB61BD50}"/>
              </a:ext>
            </a:extLst>
          </p:cNvPr>
          <p:cNvSpPr/>
          <p:nvPr userDrawn="1"/>
        </p:nvSpPr>
        <p:spPr>
          <a:xfrm>
            <a:off x="72887" y="4813353"/>
            <a:ext cx="372173" cy="23455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63804001-4A52-A7FB-FC2A-F450E7C6EB4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73349" y="1961586"/>
            <a:ext cx="2343568" cy="234356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CF9ED9E2-3219-F619-9BA3-FFB47D247704}"/>
              </a:ext>
            </a:extLst>
          </p:cNvPr>
          <p:cNvSpPr/>
          <p:nvPr userDrawn="1"/>
        </p:nvSpPr>
        <p:spPr>
          <a:xfrm>
            <a:off x="7678522" y="4583477"/>
            <a:ext cx="1273321" cy="46443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12EFF5-B5C4-29F2-5FBE-E79CCD7FC086}"/>
              </a:ext>
            </a:extLst>
          </p:cNvPr>
          <p:cNvSpPr/>
          <p:nvPr userDrawn="1"/>
        </p:nvSpPr>
        <p:spPr>
          <a:xfrm>
            <a:off x="1159566" y="4813352"/>
            <a:ext cx="6155634" cy="23455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73736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56DBA27B-8304-4CFA-81F2-07D6954C9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488989"/>
            <a:ext cx="8511554" cy="30179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A13"/>
              </a:buClr>
              <a:defRPr/>
            </a:lvl1pPr>
            <a:lvl2pPr>
              <a:spcBef>
                <a:spcPts val="0"/>
              </a:spcBef>
              <a:buClr>
                <a:srgbClr val="FF6A13"/>
              </a:buClr>
              <a:defRPr/>
            </a:lvl2pPr>
            <a:lvl3pPr>
              <a:spcBef>
                <a:spcPts val="0"/>
              </a:spcBef>
              <a:buClr>
                <a:srgbClr val="FF6A13"/>
              </a:buClr>
              <a:defRPr/>
            </a:lvl3pPr>
            <a:lvl4pPr>
              <a:spcBef>
                <a:spcPts val="0"/>
              </a:spcBef>
              <a:buClr>
                <a:srgbClr val="FFA336"/>
              </a:buClr>
              <a:defRPr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228F4D49-482B-40A2-86AF-43C7452AA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07968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2" name="Media Placeholder 3">
            <a:extLst>
              <a:ext uri="{FF2B5EF4-FFF2-40B4-BE49-F238E27FC236}">
                <a16:creationId xmlns:a16="http://schemas.microsoft.com/office/drawing/2014/main" id="{41860E7C-CA2A-CCFE-19A9-6DCDEE29B22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23183522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BE1C07FA-679D-46C0-86F7-8D17779A01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264925"/>
            <a:ext cx="4104000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A13"/>
              </a:buClr>
              <a:defRPr>
                <a:latin typeface="Sarabun" panose="00000500000000000000" pitchFamily="2" charset="-34"/>
              </a:defRPr>
            </a:lvl1pPr>
            <a:lvl2pPr>
              <a:spcBef>
                <a:spcPts val="0"/>
              </a:spcBef>
              <a:buClr>
                <a:srgbClr val="FF6A13"/>
              </a:buClr>
              <a:defRPr>
                <a:latin typeface="Sarabun" panose="00000500000000000000" pitchFamily="2" charset="-34"/>
              </a:defRPr>
            </a:lvl2pPr>
            <a:lvl3pPr>
              <a:spcBef>
                <a:spcPts val="0"/>
              </a:spcBef>
              <a:buClr>
                <a:srgbClr val="FF6A13"/>
              </a:buClr>
              <a:defRPr>
                <a:latin typeface="Sarabun" panose="00000500000000000000" pitchFamily="2" charset="-34"/>
              </a:defRPr>
            </a:lvl3pPr>
            <a:lvl4pPr>
              <a:spcBef>
                <a:spcPts val="0"/>
              </a:spcBef>
              <a:buClr>
                <a:srgbClr val="FF6A13"/>
              </a:buClr>
              <a:defRPr>
                <a:latin typeface="Sarabun" panose="00000500000000000000" pitchFamily="2" charset="-34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1378A4D6-E4A6-4021-9A3E-CD1962CFE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54350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CFE9A372-03E3-E60F-6496-867B43D28DDD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524709DA-7321-C012-5950-141DDACE71D0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4716475" y="1264925"/>
            <a:ext cx="4104000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A13"/>
              </a:buClr>
              <a:defRPr>
                <a:latin typeface="Sarabun" panose="00000500000000000000" pitchFamily="2" charset="-34"/>
              </a:defRPr>
            </a:lvl1pPr>
            <a:lvl2pPr>
              <a:spcBef>
                <a:spcPts val="0"/>
              </a:spcBef>
              <a:buClr>
                <a:srgbClr val="FF6A13"/>
              </a:buClr>
              <a:defRPr>
                <a:latin typeface="Sarabun" panose="00000500000000000000" pitchFamily="2" charset="-34"/>
              </a:defRPr>
            </a:lvl2pPr>
            <a:lvl3pPr>
              <a:spcBef>
                <a:spcPts val="0"/>
              </a:spcBef>
              <a:buClr>
                <a:srgbClr val="FF6A13"/>
              </a:buClr>
              <a:defRPr>
                <a:latin typeface="Sarabun" panose="00000500000000000000" pitchFamily="2" charset="-34"/>
              </a:defRPr>
            </a:lvl3pPr>
            <a:lvl4pPr>
              <a:spcBef>
                <a:spcPts val="0"/>
              </a:spcBef>
              <a:buClr>
                <a:srgbClr val="FF6A13"/>
              </a:buClr>
              <a:defRPr>
                <a:latin typeface="Sarabun" panose="00000500000000000000" pitchFamily="2" charset="-34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4143226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4C4900D4-E042-4F52-A837-0B504DD6A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27846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6AE5AD0B-78DA-96AF-6F08-3574B654A51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422647236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2ADF6038-2E5A-469C-35D8-0A0580CF19AD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14476942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23528" y="267657"/>
            <a:ext cx="7005527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3527" y="1264925"/>
            <a:ext cx="8528373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9B4391E-A2CA-4E7C-B5A9-A31CF000D3E5}"/>
              </a:ext>
            </a:extLst>
          </p:cNvPr>
          <p:cNvSpPr txBox="1">
            <a:spLocks/>
          </p:cNvSpPr>
          <p:nvPr userDrawn="1"/>
        </p:nvSpPr>
        <p:spPr>
          <a:xfrm>
            <a:off x="710852" y="4745354"/>
            <a:ext cx="7066640" cy="39814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17550" indent="-35560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SzPct val="60000"/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079500" indent="-36195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SzPct val="75000"/>
              <a:buFont typeface="Wingdings" panose="05000000000000000000" pitchFamily="2" charset="2"/>
              <a:buChar char="§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433513" indent="-354013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Font typeface="Calibri" panose="020F0502020204030204" pitchFamily="34" charset="0"/>
              <a:buChar char="–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>
              <a:spcBef>
                <a:spcPts val="0"/>
              </a:spcBef>
            </a:pPr>
            <a:r>
              <a:rPr lang="en-US" sz="1600" dirty="0">
                <a:solidFill>
                  <a:srgbClr val="282828"/>
                </a:solidFill>
                <a:latin typeface="Sarabun" panose="00000500000000000000" pitchFamily="2" charset="-34"/>
              </a:rPr>
              <a:t>Concurrent Programming in Dyalog</a:t>
            </a:r>
          </a:p>
        </p:txBody>
      </p:sp>
      <p:sp>
        <p:nvSpPr>
          <p:cNvPr id="49" name="Date Placeholder 3"/>
          <p:cNvSpPr txBox="1">
            <a:spLocks/>
          </p:cNvSpPr>
          <p:nvPr userDrawn="1"/>
        </p:nvSpPr>
        <p:spPr>
          <a:xfrm>
            <a:off x="45720" y="4743900"/>
            <a:ext cx="665132" cy="399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2000" b="0" kern="1200">
                <a:solidFill>
                  <a:schemeClr val="bg1"/>
                </a:solidFill>
                <a:latin typeface="Klavika Medium" panose="02000603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02EDF88B-1B61-4481-9BD6-D2E23BF0DCD8}" type="slidenum">
              <a:rPr lang="en-GB" sz="1600" baseline="0" smtClean="0">
                <a:solidFill>
                  <a:srgbClr val="FF6A13"/>
                </a:solidFill>
                <a:latin typeface="Sarabun" panose="00000500000000000000" pitchFamily="2" charset="-34"/>
              </a:rPr>
              <a:pPr algn="l"/>
              <a:t>‹#›</a:t>
            </a:fld>
            <a:endParaRPr lang="en-GB" sz="1600" baseline="0" dirty="0">
              <a:solidFill>
                <a:srgbClr val="FF6A13"/>
              </a:solidFill>
              <a:latin typeface="Sarabun" panose="00000500000000000000" pitchFamily="2" charset="-34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EC5741-2586-9026-BBB0-7FC530AB64E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7699513" y="4665641"/>
            <a:ext cx="1152387" cy="386873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AB9ED5D-5652-ECE7-BCC6-63EFE93D812C}"/>
              </a:ext>
            </a:extLst>
          </p:cNvPr>
          <p:cNvCxnSpPr>
            <a:cxnSpLocks/>
          </p:cNvCxnSpPr>
          <p:nvPr userDrawn="1"/>
        </p:nvCxnSpPr>
        <p:spPr>
          <a:xfrm>
            <a:off x="0" y="5119690"/>
            <a:ext cx="9144000" cy="0"/>
          </a:xfrm>
          <a:prstGeom prst="line">
            <a:avLst/>
          </a:prstGeom>
          <a:ln w="508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1740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0" r:id="rId2"/>
    <p:sldLayoutId id="2147483652" r:id="rId3"/>
    <p:sldLayoutId id="2147483654" r:id="rId4"/>
    <p:sldLayoutId id="2147483655" r:id="rId5"/>
  </p:sldLayoutIdLst>
  <p:hf sldNum="0" hdr="0" dt="0"/>
  <p:txStyles>
    <p:titleStyle>
      <a:lvl1pPr algn="l" defTabSz="914400" rtl="0" eaLnBrk="1" latinLnBrk="0" hangingPunct="1">
        <a:spcBef>
          <a:spcPct val="0"/>
        </a:spcBef>
        <a:buNone/>
        <a:defRPr sz="3600" b="0" kern="1200">
          <a:solidFill>
            <a:srgbClr val="3B475E"/>
          </a:solidFill>
          <a:latin typeface="Sarabun" panose="00000500000000000000" pitchFamily="2" charset="-34"/>
          <a:ea typeface="+mj-ea"/>
          <a:cs typeface="Calibri" panose="020F0502020204030204" pitchFamily="34" charset="0"/>
        </a:defRPr>
      </a:lvl1pPr>
    </p:titleStyle>
    <p:bodyStyle>
      <a:lvl1pPr marL="458788" indent="-458788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A13"/>
        </a:buClr>
        <a:buSzPct val="75000"/>
        <a:buFont typeface="Wingdings 2" panose="05020102010507070707" pitchFamily="18" charset="2"/>
        <a:buChar char=""/>
        <a:defRPr sz="24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1pPr>
      <a:lvl2pPr marL="858838" indent="-401638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A13"/>
        </a:buClr>
        <a:buSzPct val="75000"/>
        <a:buFont typeface="Wingdings 2" panose="05020102010507070707" pitchFamily="18" charset="2"/>
        <a:buChar char=""/>
        <a:defRPr lang="en-US" sz="2000" kern="1200" dirty="0" smtClean="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A13"/>
        </a:buClr>
        <a:buSzPct val="75000"/>
        <a:buFont typeface="Wingdings 2" panose="05020102010507070707" pitchFamily="18" charset="2"/>
        <a:buChar char=""/>
        <a:defRPr sz="18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3pPr>
      <a:lvl4pPr marL="1655763" indent="-284163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A13"/>
        </a:buClr>
        <a:buSzPct val="75000"/>
        <a:buFont typeface="Wingdings 2" panose="05020102010507070707" pitchFamily="18" charset="2"/>
        <a:buChar char=""/>
        <a:defRPr sz="14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4pPr>
      <a:lvl5pPr marL="1828800" indent="0" algn="l" defTabSz="914400" rtl="0" eaLnBrk="1" latinLnBrk="0" hangingPunct="1">
        <a:spcBef>
          <a:spcPct val="20000"/>
        </a:spcBef>
        <a:buClr>
          <a:srgbClr val="FF9421"/>
        </a:buClr>
        <a:buFont typeface="Calibri" panose="020F050202020403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yalog.com/20.0/language-reference-guide/system-functions/system-functions-by-category/#synchronisation" TargetMode="External"/><Relationship Id="rId2" Type="http://schemas.openxmlformats.org/officeDocument/2006/relationships/hyperlink" Target="https://docs.dyalog.com/20.0/language-reference-guide/system-functions/system-functions-by-category/#thread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dyalog.com/20.0/programming-reference-guide/threads/thread-switching/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yalog-training/2026-MA3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yalog-training/2026-MA3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feedback.dyalog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A6417-55D0-46BB-0DFF-8D4AA0A71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Concurrent Programming in Dyalog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68C988-130F-A25A-2390-AB59A78D53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Rich Park, Stefan Kruger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4559DFF-3665-0E31-55C7-92F3BEB5DA9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8878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F88215-F443-BBEC-7C51-B7954C9DBF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An introduction</a:t>
            </a:r>
          </a:p>
          <a:p>
            <a:r>
              <a:rPr lang="en-GB" dirty="0"/>
              <a:t>Some discussion</a:t>
            </a:r>
          </a:p>
          <a:p>
            <a:r>
              <a:rPr lang="en-GB" dirty="0"/>
              <a:t>Some exercises</a:t>
            </a:r>
          </a:p>
          <a:p>
            <a:r>
              <a:rPr lang="en-GB" dirty="0"/>
              <a:t>Not comprehensive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2AD914C-2AD4-60CC-1985-65A5555CF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This workshop</a:t>
            </a:r>
          </a:p>
        </p:txBody>
      </p:sp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5D75FC6E-57E5-012E-5ABC-62B238B5B31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00055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DD2D84-2E79-6B08-4D98-3B8EE2EDC5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i="1" dirty="0"/>
              <a:t>Doing too many things together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B071F3E-622E-252D-E3F9-F5F9473C1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Concurrency &amp; Parallelism</a:t>
            </a:r>
          </a:p>
        </p:txBody>
      </p:sp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FA483F8B-C782-6352-AEC7-83A158CAD45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08203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115DB0C-D3BF-FF6F-055E-6DB66862F4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488989"/>
            <a:ext cx="8366660" cy="3184611"/>
          </a:xfrm>
        </p:spPr>
        <p:txBody>
          <a:bodyPr wrap="square" bIns="144000" numCol="2" spcCol="144000">
            <a:noAutofit/>
          </a:bodyPr>
          <a:lstStyle/>
          <a:p>
            <a:pPr>
              <a:buFont typeface="+mj-lt"/>
              <a:buAutoNum type="arabicPeriod"/>
            </a:pPr>
            <a:r>
              <a:rPr lang="en-GB" sz="1700" dirty="0"/>
              <a:t>Into one bowl</a:t>
            </a:r>
          </a:p>
          <a:p>
            <a:pPr lvl="1">
              <a:buFont typeface="+mj-lt"/>
              <a:buAutoNum type="arabicPeriod"/>
            </a:pPr>
            <a:r>
              <a:rPr lang="en-GB" sz="1700" dirty="0"/>
              <a:t>Add flour</a:t>
            </a:r>
          </a:p>
          <a:p>
            <a:pPr lvl="1">
              <a:buFont typeface="+mj-lt"/>
              <a:buAutoNum type="arabicPeriod"/>
            </a:pPr>
            <a:r>
              <a:rPr lang="en-GB" sz="1700" dirty="0"/>
              <a:t>Add sugar</a:t>
            </a:r>
          </a:p>
          <a:p>
            <a:pPr lvl="1">
              <a:buFont typeface="+mj-lt"/>
              <a:buAutoNum type="arabicPeriod"/>
            </a:pPr>
            <a:r>
              <a:rPr lang="en-GB" sz="1700" dirty="0"/>
              <a:t>Add salt</a:t>
            </a:r>
          </a:p>
          <a:p>
            <a:pPr>
              <a:buFont typeface="+mj-lt"/>
              <a:buAutoNum type="arabicPeriod"/>
            </a:pPr>
            <a:r>
              <a:rPr lang="en-GB" sz="1700" dirty="0"/>
              <a:t>Into another bowl</a:t>
            </a:r>
          </a:p>
          <a:p>
            <a:pPr lvl="1">
              <a:buFont typeface="+mj-lt"/>
              <a:buAutoNum type="arabicPeriod"/>
            </a:pPr>
            <a:r>
              <a:rPr lang="en-GB" sz="1700" dirty="0"/>
              <a:t>Add milk</a:t>
            </a:r>
          </a:p>
          <a:p>
            <a:pPr lvl="1">
              <a:buFont typeface="+mj-lt"/>
              <a:buAutoNum type="arabicPeriod"/>
            </a:pPr>
            <a:r>
              <a:rPr lang="en-GB" sz="1700" dirty="0"/>
              <a:t>Add egg</a:t>
            </a:r>
          </a:p>
          <a:p>
            <a:pPr lvl="1">
              <a:buFont typeface="+mj-lt"/>
              <a:buAutoNum type="arabicPeriod"/>
            </a:pPr>
            <a:r>
              <a:rPr lang="en-GB" sz="1700" dirty="0"/>
              <a:t>Add melted butter</a:t>
            </a:r>
            <a:br>
              <a:rPr lang="en-GB" sz="1700" dirty="0"/>
            </a:br>
            <a:endParaRPr lang="en-GB" sz="1700" dirty="0"/>
          </a:p>
          <a:p>
            <a:pPr lvl="1">
              <a:buFont typeface="+mj-lt"/>
              <a:buAutoNum type="arabicPeriod"/>
            </a:pPr>
            <a:endParaRPr lang="en-GB" sz="1700" dirty="0"/>
          </a:p>
          <a:p>
            <a:pPr>
              <a:buFont typeface="+mj-lt"/>
              <a:buAutoNum type="arabicPeriod"/>
            </a:pPr>
            <a:r>
              <a:rPr lang="en-GB" sz="1700" dirty="0"/>
              <a:t>Mix wet and dry ingredients</a:t>
            </a:r>
          </a:p>
          <a:p>
            <a:pPr>
              <a:buFont typeface="+mj-lt"/>
              <a:buAutoNum type="arabicPeriod"/>
            </a:pPr>
            <a:r>
              <a:rPr lang="en-GB" sz="1700" dirty="0"/>
              <a:t>Add butter to hot pan</a:t>
            </a:r>
          </a:p>
          <a:p>
            <a:pPr>
              <a:buFont typeface="+mj-lt"/>
              <a:buAutoNum type="arabicPeriod"/>
            </a:pPr>
            <a:r>
              <a:rPr lang="en-GB" sz="1700" dirty="0"/>
              <a:t>Add batter to hot pan</a:t>
            </a:r>
          </a:p>
          <a:p>
            <a:pPr>
              <a:buFont typeface="+mj-lt"/>
              <a:buAutoNum type="arabicPeriod"/>
            </a:pPr>
            <a:r>
              <a:rPr lang="en-GB" sz="1700" dirty="0"/>
              <a:t>Remove pancake from hot pan</a:t>
            </a:r>
          </a:p>
          <a:p>
            <a:pPr>
              <a:buFont typeface="+mj-lt"/>
              <a:buAutoNum type="arabicPeriod"/>
            </a:pPr>
            <a:r>
              <a:rPr lang="en-GB" sz="1700" dirty="0"/>
              <a:t>Eat</a:t>
            </a:r>
          </a:p>
          <a:p>
            <a:pPr>
              <a:buFont typeface="+mj-lt"/>
              <a:buAutoNum type="arabicPeriod"/>
            </a:pPr>
            <a:endParaRPr lang="en-GB" sz="1700" dirty="0"/>
          </a:p>
          <a:p>
            <a:pPr>
              <a:buFont typeface="+mj-lt"/>
              <a:buAutoNum type="arabicPeriod"/>
            </a:pPr>
            <a:endParaRPr lang="en-GB" sz="1700" dirty="0"/>
          </a:p>
          <a:p>
            <a:pPr>
              <a:buFont typeface="+mj-lt"/>
              <a:buAutoNum type="arabicPeriod"/>
            </a:pPr>
            <a:endParaRPr lang="en-GB" sz="1700" dirty="0"/>
          </a:p>
          <a:p>
            <a:endParaRPr lang="en-GB" sz="17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F2E35F2-3FF3-9828-8BC7-C9D67224C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Recipe ≈ algorithm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CF16DE3-5880-2C5C-1BF0-17E0E607B42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0785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96E0E-0994-C22D-6260-A43DE0912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6D4D4AC-BE56-48B9-F9BB-0907CE0399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9" y="1474474"/>
            <a:ext cx="8366660" cy="3184611"/>
          </a:xfrm>
        </p:spPr>
        <p:txBody>
          <a:bodyPr wrap="square" bIns="144000" numCol="2" spcCol="144000">
            <a:noAutofit/>
          </a:bodyPr>
          <a:lstStyle/>
          <a:p>
            <a:pPr>
              <a:buFont typeface="+mj-lt"/>
              <a:buAutoNum type="arabicPeriod"/>
            </a:pPr>
            <a:r>
              <a:rPr lang="en-GB" sz="1700" dirty="0"/>
              <a:t>Add wet, dry separately</a:t>
            </a:r>
          </a:p>
          <a:p>
            <a:pPr lvl="1"/>
            <a:r>
              <a:rPr lang="en-GB" sz="1700" dirty="0"/>
              <a:t>Into another bowl add flour, sugar, salt</a:t>
            </a:r>
          </a:p>
          <a:p>
            <a:pPr lvl="1"/>
            <a:r>
              <a:rPr lang="en-GB" sz="1700" dirty="0"/>
              <a:t>Into another bowl add milk, egg, melted butter</a:t>
            </a:r>
          </a:p>
          <a:p>
            <a:pPr>
              <a:buFont typeface="+mj-lt"/>
              <a:buAutoNum type="arabicPeriod"/>
            </a:pPr>
            <a:r>
              <a:rPr lang="en-GB" sz="1700" dirty="0"/>
              <a:t>Mix wet and dry ingredients</a:t>
            </a:r>
          </a:p>
          <a:p>
            <a:pPr lvl="1"/>
            <a:r>
              <a:rPr lang="en-GB" sz="1700" dirty="0"/>
              <a:t>Add butter to hot pan</a:t>
            </a:r>
          </a:p>
          <a:p>
            <a:pPr lvl="1"/>
            <a:r>
              <a:rPr lang="en-GB" sz="1700" dirty="0"/>
              <a:t>Mix wet and dry ingredients</a:t>
            </a:r>
          </a:p>
          <a:p>
            <a:pPr>
              <a:buFont typeface="+mj-lt"/>
              <a:buAutoNum type="arabicPeriod"/>
            </a:pPr>
            <a:r>
              <a:rPr lang="en-GB" sz="1700" dirty="0"/>
              <a:t>Add batter to hot pan</a:t>
            </a:r>
          </a:p>
          <a:p>
            <a:pPr>
              <a:buFont typeface="+mj-lt"/>
              <a:buAutoNum type="arabicPeriod"/>
            </a:pPr>
            <a:r>
              <a:rPr lang="en-GB" sz="1700" dirty="0"/>
              <a:t>Remove pancake from hot pan</a:t>
            </a:r>
          </a:p>
          <a:p>
            <a:pPr>
              <a:buFont typeface="+mj-lt"/>
              <a:buAutoNum type="arabicPeriod"/>
            </a:pPr>
            <a:r>
              <a:rPr lang="en-GB" sz="1700" dirty="0"/>
              <a:t>Eat</a:t>
            </a:r>
          </a:p>
          <a:p>
            <a:pPr>
              <a:buFont typeface="+mj-lt"/>
              <a:buAutoNum type="arabicPeriod"/>
            </a:pPr>
            <a:endParaRPr lang="en-GB" sz="1700" dirty="0"/>
          </a:p>
          <a:p>
            <a:pPr>
              <a:buFont typeface="+mj-lt"/>
              <a:buAutoNum type="arabicPeriod"/>
            </a:pPr>
            <a:endParaRPr lang="en-GB" sz="1700" dirty="0"/>
          </a:p>
          <a:p>
            <a:pPr>
              <a:buFont typeface="+mj-lt"/>
              <a:buAutoNum type="arabicPeriod"/>
            </a:pPr>
            <a:endParaRPr lang="en-GB" sz="1700" dirty="0"/>
          </a:p>
          <a:p>
            <a:endParaRPr lang="en-GB" sz="17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A2C2DC2-CB42-AEB8-6B54-4FF85C4E1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Recipe ≈ algorithm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D9F14C6-698C-78B8-6DCB-4F37F2AFAC9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90159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96BB4E-1AA3-414E-63A8-02417DB64C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"Concurrency is about handling asynchronous, non-deterministic events. Parallelism is about using hardware resources to do more computations at the same time."</a:t>
            </a:r>
          </a:p>
          <a:p>
            <a:pPr marL="0" indent="0">
              <a:buNone/>
            </a:pPr>
            <a:r>
              <a:rPr lang="en-GB" dirty="0"/>
              <a:t>	- some guy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42C254C-93D7-B63C-0653-3DAA467C9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Concurrency vs Parallelism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93A62C1-D685-9129-D87A-0A73BBDAD1E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77316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26AE9-37DC-7E4E-67DE-6D1F31BE9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86DE6A1-3A1D-85A7-EBAD-2F3D7F94F1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"Concurrency is about </a:t>
            </a:r>
            <a:r>
              <a:rPr lang="en-GB" b="1" dirty="0"/>
              <a:t>dealing with </a:t>
            </a:r>
            <a:r>
              <a:rPr lang="en-GB" dirty="0"/>
              <a:t>lots of things at once. Parallelism is about </a:t>
            </a:r>
            <a:r>
              <a:rPr lang="en-GB" b="1" dirty="0"/>
              <a:t>doing </a:t>
            </a:r>
            <a:r>
              <a:rPr lang="en-GB" dirty="0"/>
              <a:t>lots of things at once."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	- Rob Pike, </a:t>
            </a:r>
            <a:r>
              <a:rPr lang="en-GB" i="1" dirty="0"/>
              <a:t>Concurrency is not Parallelism (2012)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17BE057-CAB1-719D-EE73-909887155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Concurrency vs Parallelism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B9B65E5-20C2-8D0C-1DF2-2068BFBC29B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32747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F2D45A-A26D-804C-3DF9-0B617BEF33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Understand the difference between green threads and OS threads</a:t>
            </a:r>
          </a:p>
          <a:p>
            <a:r>
              <a:rPr lang="en-GB" dirty="0"/>
              <a:t>Know how to assess performance trade-offs when considering concurrency implementation</a:t>
            </a:r>
          </a:p>
          <a:p>
            <a:r>
              <a:rPr lang="en-GB" dirty="0"/>
              <a:t>Know when threads switch in running Dyalog programs</a:t>
            </a:r>
          </a:p>
          <a:p>
            <a:r>
              <a:rPr lang="en-GB" dirty="0"/>
              <a:t>Know how locking mechanisms can be used to safely manage shared resources in multithreaded programs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1EFD8D0-05EF-9FD6-D71B-768BD37D6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Objectives</a:t>
            </a:r>
          </a:p>
        </p:txBody>
      </p:sp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181890B8-D0CC-B7CD-912F-6D1D437A8A1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81795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51B85-29F5-00F3-C1AC-4182ED092C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When computations are independent</a:t>
            </a:r>
          </a:p>
          <a:p>
            <a:r>
              <a:rPr lang="en-GB" dirty="0"/>
              <a:t>To hide latency</a:t>
            </a:r>
          </a:p>
          <a:p>
            <a:r>
              <a:rPr lang="en-GB" dirty="0"/>
              <a:t>Protection of modular systems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7DFB07A-2319-2096-B4C1-85A914A6D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When do we want concurrency?</a:t>
            </a:r>
          </a:p>
        </p:txBody>
      </p:sp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FBFFCCBF-4F60-02C3-49D2-C4BBEE02BEC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2A7117-95C4-F83C-6FDB-9B089095ED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  <a:p>
            <a:r>
              <a:rPr lang="en-GB" dirty="0"/>
              <a:t>Never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450856F-936E-09A9-BD00-5D6C9C03C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07968" cy="997268"/>
          </a:xfrm>
        </p:spPr>
        <p:txBody>
          <a:bodyPr/>
          <a:lstStyle/>
          <a:p>
            <a:r>
              <a:rPr lang="en-GB" dirty="0"/>
              <a:t>When do we want to implement concurrency?</a:t>
            </a:r>
          </a:p>
        </p:txBody>
      </p:sp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A36F43A7-282B-1216-4B3C-CA3B8F4175C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2314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3ED48-C2B9-AE81-3AAE-D468D1F483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264925"/>
            <a:ext cx="8522158" cy="3242040"/>
          </a:xfrm>
        </p:spPr>
        <p:txBody>
          <a:bodyPr>
            <a:normAutofit/>
          </a:bodyPr>
          <a:lstStyle/>
          <a:p>
            <a:r>
              <a:rPr lang="en-GB" dirty="0"/>
              <a:t>AKA </a:t>
            </a:r>
            <a:r>
              <a:rPr lang="en-GB" i="1" dirty="0"/>
              <a:t>APL Threads</a:t>
            </a:r>
          </a:p>
          <a:p>
            <a:r>
              <a:rPr lang="en-GB" dirty="0"/>
              <a:t>Spawn operator (</a:t>
            </a:r>
            <a:r>
              <a:rPr lang="en-GB" dirty="0">
                <a:latin typeface="APL385 Unicode" panose="020B0709000202000203" pitchFamily="49" charset="0"/>
              </a:rPr>
              <a:t>F&amp;</a:t>
            </a:r>
            <a:r>
              <a:rPr lang="en-GB" dirty="0"/>
              <a:t>)</a:t>
            </a:r>
          </a:p>
          <a:p>
            <a:r>
              <a:rPr lang="en-GB" dirty="0"/>
              <a:t>Thread management (</a:t>
            </a:r>
            <a:r>
              <a:rPr lang="en-GB" dirty="0">
                <a:latin typeface="APL385 Unicode" panose="020B0709000202000203" pitchFamily="49" charset="0"/>
                <a:hlinkClick r:id="rId2"/>
              </a:rPr>
              <a:t>⎕TID</a:t>
            </a:r>
            <a:r>
              <a:rPr lang="en-GB" dirty="0">
                <a:hlinkClick r:id="rId2"/>
              </a:rPr>
              <a:t>, </a:t>
            </a:r>
            <a:r>
              <a:rPr lang="en-GB" dirty="0">
                <a:latin typeface="APL385 Unicode" panose="020B0709000202000203" pitchFamily="49" charset="0"/>
                <a:hlinkClick r:id="rId2"/>
              </a:rPr>
              <a:t>⎕TSYNC,⎕TKILL</a:t>
            </a:r>
            <a:r>
              <a:rPr lang="en-GB" dirty="0">
                <a:hlinkClick r:id="rId2"/>
              </a:rPr>
              <a:t> etc.</a:t>
            </a:r>
            <a:r>
              <a:rPr lang="en-GB" dirty="0"/>
              <a:t>)</a:t>
            </a:r>
          </a:p>
          <a:p>
            <a:r>
              <a:rPr lang="en-GB" dirty="0"/>
              <a:t>Token pool (</a:t>
            </a:r>
            <a:r>
              <a:rPr lang="en-GB" dirty="0">
                <a:latin typeface="APL385 Unicode" panose="020B0709000202000203" pitchFamily="49" charset="0"/>
                <a:hlinkClick r:id="rId3"/>
              </a:rPr>
              <a:t>⎕TALLOC</a:t>
            </a:r>
            <a:r>
              <a:rPr lang="en-GB" dirty="0">
                <a:hlinkClick r:id="rId3"/>
              </a:rPr>
              <a:t>, </a:t>
            </a:r>
            <a:r>
              <a:rPr lang="en-GB" dirty="0">
                <a:latin typeface="APL385 Unicode" panose="020B0709000202000203" pitchFamily="49" charset="0"/>
                <a:hlinkClick r:id="rId3"/>
              </a:rPr>
              <a:t>⎕TGET</a:t>
            </a:r>
            <a:r>
              <a:rPr lang="en-GB" dirty="0">
                <a:hlinkClick r:id="rId3"/>
              </a:rPr>
              <a:t>, </a:t>
            </a:r>
            <a:r>
              <a:rPr lang="en-GB" dirty="0">
                <a:latin typeface="APL385 Unicode" panose="020B0709000202000203" pitchFamily="49" charset="0"/>
                <a:hlinkClick r:id="rId3"/>
              </a:rPr>
              <a:t>⎕TPUT</a:t>
            </a:r>
            <a:r>
              <a:rPr lang="en-GB" dirty="0">
                <a:hlinkClick r:id="rId3"/>
              </a:rPr>
              <a:t> etc.</a:t>
            </a:r>
            <a:r>
              <a:rPr lang="en-GB" dirty="0"/>
              <a:t>)</a:t>
            </a:r>
          </a:p>
          <a:p>
            <a:r>
              <a:rPr lang="en-GB" dirty="0">
                <a:hlinkClick r:id="rId4"/>
              </a:rPr>
              <a:t>Thread switching</a:t>
            </a:r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213C5FB-F1AC-3C5D-0663-81AC53048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Green Threads</a:t>
            </a:r>
          </a:p>
        </p:txBody>
      </p:sp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0CAAF1FC-7BCD-01AF-BF0A-E9243EBF0CD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756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904660-A6EC-591B-45D8-0E8CE40575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226820"/>
            <a:ext cx="8511554" cy="3280145"/>
          </a:xfrm>
        </p:spPr>
        <p:txBody>
          <a:bodyPr/>
          <a:lstStyle/>
          <a:p>
            <a:r>
              <a:rPr lang="en-GB" dirty="0"/>
              <a:t>Run in the same OS process</a:t>
            </a:r>
          </a:p>
          <a:p>
            <a:r>
              <a:rPr lang="en-GB" dirty="0"/>
              <a:t>"time share"</a:t>
            </a:r>
          </a:p>
          <a:p>
            <a:r>
              <a:rPr lang="en-GB" dirty="0">
                <a:latin typeface="APL385 Unicode" panose="020B0709000202000203" pitchFamily="49" charset="0"/>
              </a:rPr>
              <a:t>R ← </a:t>
            </a:r>
            <a:r>
              <a:rPr lang="en-GB" dirty="0" err="1">
                <a:latin typeface="APL385 Unicode" panose="020B0709000202000203" pitchFamily="49" charset="0"/>
              </a:rPr>
              <a:t>F&amp;arg</a:t>
            </a:r>
            <a:r>
              <a:rPr lang="en-GB" dirty="0"/>
              <a:t>   	R is a thread ID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2F62F7E-FCCC-7387-A424-23113CB68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Green Threads</a:t>
            </a:r>
          </a:p>
        </p:txBody>
      </p:sp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8EB8D27E-AEB1-71AD-C9F4-852E520F93D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C813AA8F-87F7-C17F-E82C-F5AA6A6E326E}"/>
              </a:ext>
            </a:extLst>
          </p:cNvPr>
          <p:cNvSpPr/>
          <p:nvPr/>
        </p:nvSpPr>
        <p:spPr>
          <a:xfrm>
            <a:off x="1818780" y="2715098"/>
            <a:ext cx="6231916" cy="745784"/>
          </a:xfrm>
          <a:prstGeom prst="rightArrow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BAD5CAF-B8F9-8E1E-F208-C79A84C02418}"/>
              </a:ext>
            </a:extLst>
          </p:cNvPr>
          <p:cNvSpPr/>
          <p:nvPr/>
        </p:nvSpPr>
        <p:spPr>
          <a:xfrm>
            <a:off x="1818780" y="3623787"/>
            <a:ext cx="6231916" cy="745784"/>
          </a:xfrm>
          <a:prstGeom prst="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B6B9EA-D902-E8DA-D2E2-C31AB3DC32A7}"/>
              </a:ext>
            </a:extLst>
          </p:cNvPr>
          <p:cNvSpPr txBox="1"/>
          <p:nvPr/>
        </p:nvSpPr>
        <p:spPr>
          <a:xfrm>
            <a:off x="367830" y="2903324"/>
            <a:ext cx="14509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Thread 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D84E53-74A8-9522-19E5-CCB8E8AC41E7}"/>
              </a:ext>
            </a:extLst>
          </p:cNvPr>
          <p:cNvSpPr txBox="1"/>
          <p:nvPr/>
        </p:nvSpPr>
        <p:spPr>
          <a:xfrm>
            <a:off x="367830" y="3808453"/>
            <a:ext cx="14509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Thread 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34E304E-D9EE-5D77-5E76-3FE46686498C}"/>
              </a:ext>
            </a:extLst>
          </p:cNvPr>
          <p:cNvSpPr/>
          <p:nvPr/>
        </p:nvSpPr>
        <p:spPr>
          <a:xfrm>
            <a:off x="2599617" y="2903324"/>
            <a:ext cx="1103325" cy="36933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2061711-0CA4-9BE5-3B59-5A8586973D09}"/>
              </a:ext>
            </a:extLst>
          </p:cNvPr>
          <p:cNvSpPr/>
          <p:nvPr/>
        </p:nvSpPr>
        <p:spPr>
          <a:xfrm>
            <a:off x="3702942" y="3811488"/>
            <a:ext cx="780837" cy="36933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73A1CF-7D2D-5541-C7B7-8342B35B6451}"/>
              </a:ext>
            </a:extLst>
          </p:cNvPr>
          <p:cNvSpPr/>
          <p:nvPr/>
        </p:nvSpPr>
        <p:spPr>
          <a:xfrm>
            <a:off x="4483780" y="2903324"/>
            <a:ext cx="579428" cy="36933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D2C6FAB-D592-163E-2A35-6390B98E3424}"/>
              </a:ext>
            </a:extLst>
          </p:cNvPr>
          <p:cNvSpPr/>
          <p:nvPr/>
        </p:nvSpPr>
        <p:spPr>
          <a:xfrm>
            <a:off x="1826338" y="3808453"/>
            <a:ext cx="773280" cy="36933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4E426E1-52A0-B237-1F45-BF0312C596C4}"/>
              </a:ext>
            </a:extLst>
          </p:cNvPr>
          <p:cNvSpPr/>
          <p:nvPr/>
        </p:nvSpPr>
        <p:spPr>
          <a:xfrm>
            <a:off x="5063207" y="3808453"/>
            <a:ext cx="1375377" cy="36933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1246572-82F7-A2F1-C866-59E58AC020AE}"/>
              </a:ext>
            </a:extLst>
          </p:cNvPr>
          <p:cNvSpPr/>
          <p:nvPr/>
        </p:nvSpPr>
        <p:spPr>
          <a:xfrm>
            <a:off x="6438585" y="2903324"/>
            <a:ext cx="1231796" cy="36933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655B907-F2EB-6B00-F249-525FAFCC34BA}"/>
              </a:ext>
            </a:extLst>
          </p:cNvPr>
          <p:cNvCxnSpPr>
            <a:cxnSpLocks/>
          </p:cNvCxnSpPr>
          <p:nvPr/>
        </p:nvCxnSpPr>
        <p:spPr>
          <a:xfrm>
            <a:off x="2599617" y="3288030"/>
            <a:ext cx="0" cy="52042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599275B-D079-ACAD-5C49-11E4DD1FC666}"/>
              </a:ext>
            </a:extLst>
          </p:cNvPr>
          <p:cNvCxnSpPr>
            <a:cxnSpLocks/>
          </p:cNvCxnSpPr>
          <p:nvPr/>
        </p:nvCxnSpPr>
        <p:spPr>
          <a:xfrm flipV="1">
            <a:off x="3702942" y="3288030"/>
            <a:ext cx="0" cy="52042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DC29359-D446-03A7-5A8B-1B40965A1696}"/>
              </a:ext>
            </a:extLst>
          </p:cNvPr>
          <p:cNvCxnSpPr>
            <a:cxnSpLocks/>
          </p:cNvCxnSpPr>
          <p:nvPr/>
        </p:nvCxnSpPr>
        <p:spPr>
          <a:xfrm>
            <a:off x="4483779" y="3288030"/>
            <a:ext cx="0" cy="52042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C7FF152-122F-BBB5-331F-0940081C453D}"/>
              </a:ext>
            </a:extLst>
          </p:cNvPr>
          <p:cNvCxnSpPr>
            <a:cxnSpLocks/>
          </p:cNvCxnSpPr>
          <p:nvPr/>
        </p:nvCxnSpPr>
        <p:spPr>
          <a:xfrm flipV="1">
            <a:off x="5068944" y="3288030"/>
            <a:ext cx="0" cy="52042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88A7E82-D261-DA35-C08E-3EDEED9584A2}"/>
              </a:ext>
            </a:extLst>
          </p:cNvPr>
          <p:cNvCxnSpPr>
            <a:cxnSpLocks/>
          </p:cNvCxnSpPr>
          <p:nvPr/>
        </p:nvCxnSpPr>
        <p:spPr>
          <a:xfrm>
            <a:off x="6438584" y="3288030"/>
            <a:ext cx="0" cy="52042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3520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A39C82-8437-18F8-A498-8C9F9965C8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Workspace </a:t>
            </a:r>
            <a:r>
              <a:rPr lang="en-GB" dirty="0" err="1"/>
              <a:t>isolate.dws</a:t>
            </a:r>
            <a:endParaRPr lang="en-GB" dirty="0"/>
          </a:p>
          <a:p>
            <a:r>
              <a:rPr lang="en-GB" dirty="0"/>
              <a:t>Execute code in a separate process</a:t>
            </a:r>
          </a:p>
          <a:p>
            <a:r>
              <a:rPr lang="en-GB" dirty="0"/>
              <a:t>Models: </a:t>
            </a:r>
          </a:p>
          <a:p>
            <a:pPr lvl="1"/>
            <a:r>
              <a:rPr lang="en-GB" dirty="0">
                <a:latin typeface="APL385 Unicode" panose="020B0709000202000203" pitchFamily="49" charset="0"/>
              </a:rPr>
              <a:t>II (∥)</a:t>
            </a:r>
          </a:p>
          <a:p>
            <a:pPr lvl="1"/>
            <a:r>
              <a:rPr lang="en-GB" dirty="0">
                <a:latin typeface="APL385 Unicode" panose="020B0709000202000203" pitchFamily="49" charset="0"/>
              </a:rPr>
              <a:t>IÏ (∥¨)</a:t>
            </a:r>
          </a:p>
          <a:p>
            <a:r>
              <a:rPr lang="en-GB" dirty="0">
                <a:latin typeface="APL385 Unicode" panose="020B0709000202000203" pitchFamily="49" charset="0"/>
              </a:rPr>
              <a:t>R ← F II </a:t>
            </a:r>
            <a:r>
              <a:rPr lang="en-GB" dirty="0" err="1">
                <a:latin typeface="APL385 Unicode" panose="020B0709000202000203" pitchFamily="49" charset="0"/>
              </a:rPr>
              <a:t>arg</a:t>
            </a:r>
            <a:r>
              <a:rPr lang="en-GB" dirty="0"/>
              <a:t>   		R is a "future"</a:t>
            </a:r>
          </a:p>
          <a:p>
            <a:r>
              <a:rPr lang="en-GB" dirty="0"/>
              <a:t>Futures: mysterious "not yet" values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CC7DAEB-AE9E-11F5-3507-67C4DC922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Futures and Isolates</a:t>
            </a:r>
          </a:p>
        </p:txBody>
      </p:sp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A8F947C4-13CE-D498-6FC9-D42E6A0AA76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8081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BE221D-D933-33C1-6454-9BC04D2A3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Reverse proxy pattern</a:t>
            </a:r>
          </a:p>
          <a:p>
            <a:r>
              <a:rPr lang="en-GB" dirty="0"/>
              <a:t>Shared state via databases, cache layers, streaming layers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902064A-72FF-8B26-E54C-09CC802C7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Industry Standard</a:t>
            </a:r>
          </a:p>
        </p:txBody>
      </p:sp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1FC74F26-2E5F-A919-7D23-3C9049769F0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5876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AA8F7B-ECD3-DD57-17C0-88D405CD5C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Channels, buses, semaphores, fairness</a:t>
            </a:r>
          </a:p>
          <a:p>
            <a:r>
              <a:rPr lang="en-GB" dirty="0"/>
              <a:t>Coffman conditions, </a:t>
            </a:r>
            <a:r>
              <a:rPr lang="en-GB" dirty="0" err="1"/>
              <a:t>Owicki</a:t>
            </a:r>
            <a:r>
              <a:rPr lang="en-GB" dirty="0"/>
              <a:t>-Gries, Petri nets</a:t>
            </a:r>
          </a:p>
          <a:p>
            <a:r>
              <a:rPr lang="en-GB" dirty="0"/>
              <a:t>.NET Tasks</a:t>
            </a:r>
          </a:p>
          <a:p>
            <a:r>
              <a:rPr lang="en-GB" dirty="0"/>
              <a:t>nginx, proxies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3A10D99-FF06-C655-5DA1-36BC7A8B0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Further Reading</a:t>
            </a:r>
          </a:p>
        </p:txBody>
      </p:sp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FFFACFCB-14E6-B638-C306-5322509DE2B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46851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AA429CE-291B-8724-A659-FBAE75E391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Parallelisation Performance</a:t>
            </a:r>
          </a:p>
          <a:p>
            <a:r>
              <a:rPr lang="en-GB" dirty="0"/>
              <a:t>Thread safety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333F61C-1F3E-3A42-9229-3AFF17881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Overview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FCD9B18-1D6B-AD5A-4B52-AC6225B73AF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4159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75891-B625-BC72-D7B3-829802384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4A80725-B5C6-15F4-C55F-38F93A5D2A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000080"/>
                </a:solidFill>
                <a:effectLst/>
                <a:latin typeface="APL385 Unicode" panose="020B0709000202000203" pitchFamily="49" charset="0"/>
              </a:rPr>
              <a:t>      #.⎕CY</a:t>
            </a:r>
            <a:r>
              <a:rPr lang="en-GB" dirty="0">
                <a:solidFill>
                  <a:srgbClr val="008080"/>
                </a:solidFill>
                <a:effectLst/>
                <a:latin typeface="APL385 Unicode" panose="020B0709000202000203" pitchFamily="49" charset="0"/>
              </a:rPr>
              <a:t>'isolate'</a:t>
            </a:r>
          </a:p>
          <a:p>
            <a:pPr marL="0" indent="0">
              <a:buNone/>
            </a:pP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     </a:t>
            </a:r>
            <a:r>
              <a:rPr lang="en-GB" dirty="0" err="1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my_future</a:t>
            </a: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00FF"/>
                </a:solidFill>
                <a:effectLst/>
                <a:latin typeface="APL385 Unicode" panose="020B0709000202000203" pitchFamily="49" charset="0"/>
              </a:rPr>
              <a:t>←</a:t>
            </a: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</a:t>
            </a:r>
            <a:r>
              <a:rPr lang="en-GB" dirty="0" err="1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DoThing</a:t>
            </a: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00FF"/>
                </a:solidFill>
                <a:latin typeface="APL385 Unicode" panose="020B0709000202000203" pitchFamily="49" charset="0"/>
              </a:rPr>
              <a:t>#.</a:t>
            </a:r>
            <a:r>
              <a:rPr lang="en-GB" dirty="0">
                <a:solidFill>
                  <a:srgbClr val="000000"/>
                </a:solidFill>
                <a:latin typeface="APL385 Unicode" panose="020B0709000202000203" pitchFamily="49" charset="0"/>
              </a:rPr>
              <a:t>II</a:t>
            </a: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</a:t>
            </a:r>
            <a:r>
              <a:rPr lang="en-GB" dirty="0" err="1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arg</a:t>
            </a:r>
            <a:endParaRPr lang="en-GB" dirty="0">
              <a:solidFill>
                <a:srgbClr val="00000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000000"/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 err="1">
                <a:solidFill>
                  <a:srgbClr val="000000"/>
                </a:solidFill>
                <a:latin typeface="APL385 Unicode" panose="020B0709000202000203" pitchFamily="49" charset="0"/>
              </a:rPr>
              <a:t>my_future</a:t>
            </a:r>
            <a:r>
              <a:rPr lang="en-GB" dirty="0">
                <a:solidFill>
                  <a:srgbClr val="000000"/>
                </a:solidFill>
                <a:latin typeface="APL385 Unicode" panose="020B0709000202000203" pitchFamily="49" charset="0"/>
              </a:rPr>
              <a:t>   ⍝ block until ready</a:t>
            </a:r>
          </a:p>
          <a:p>
            <a:pPr marL="0" indent="0">
              <a:buNone/>
            </a:pP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result</a:t>
            </a:r>
            <a:br>
              <a:rPr lang="en-GB" dirty="0">
                <a:effectLst/>
                <a:latin typeface="APL385 Unicode" panose="020B0709000202000203" pitchFamily="49" charset="0"/>
              </a:rPr>
            </a:b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6E3DF37-B213-1A5E-CB92-D45D52C36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 of Concurrent Calls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8B341EF-E6FD-2AB7-4FC9-973C2B06F55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131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0FADC-5326-D325-8C6B-06006B6E6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C628255-3450-227F-F75A-AD43D1516C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000080"/>
                </a:solidFill>
                <a:effectLst/>
                <a:latin typeface="APL385 Unicode" panose="020B0709000202000203" pitchFamily="49" charset="0"/>
              </a:rPr>
              <a:t>      #.⎕CY</a:t>
            </a:r>
            <a:r>
              <a:rPr lang="en-GB" dirty="0">
                <a:solidFill>
                  <a:srgbClr val="008080"/>
                </a:solidFill>
                <a:effectLst/>
                <a:latin typeface="APL385 Unicode" panose="020B0709000202000203" pitchFamily="49" charset="0"/>
              </a:rPr>
              <a:t>'isolate'</a:t>
            </a:r>
          </a:p>
          <a:p>
            <a:pPr marL="0" indent="0">
              <a:buNone/>
            </a:pPr>
            <a:r>
              <a:rPr lang="en-GB" dirty="0">
                <a:solidFill>
                  <a:srgbClr val="000000"/>
                </a:solidFill>
                <a:latin typeface="APL385 Unicode" panose="020B0709000202000203" pitchFamily="49" charset="0"/>
              </a:rPr>
              <a:t>      default </a:t>
            </a:r>
            <a:r>
              <a:rPr lang="en-GB" dirty="0">
                <a:solidFill>
                  <a:srgbClr val="0000FF"/>
                </a:solidFill>
                <a:latin typeface="APL385 Unicode" panose="020B0709000202000203" pitchFamily="49" charset="0"/>
              </a:rPr>
              <a:t>←</a:t>
            </a:r>
            <a:r>
              <a:rPr lang="en-GB" dirty="0">
                <a:solidFill>
                  <a:srgbClr val="00000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8080"/>
                </a:solidFill>
                <a:latin typeface="APL385 Unicode" panose="020B0709000202000203" pitchFamily="49" charset="0"/>
              </a:rPr>
              <a:t>'NOT READY YET'</a:t>
            </a:r>
          </a:p>
          <a:p>
            <a:pPr marL="0" indent="0">
              <a:buNone/>
            </a:pP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     </a:t>
            </a:r>
            <a:r>
              <a:rPr lang="en-GB" dirty="0" err="1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my_future</a:t>
            </a: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00FF"/>
                </a:solidFill>
                <a:effectLst/>
                <a:latin typeface="APL385 Unicode" panose="020B0709000202000203" pitchFamily="49" charset="0"/>
              </a:rPr>
              <a:t>←</a:t>
            </a: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</a:t>
            </a:r>
            <a:r>
              <a:rPr lang="en-GB" dirty="0" err="1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DoThing</a:t>
            </a: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00FF"/>
                </a:solidFill>
                <a:latin typeface="APL385 Unicode" panose="020B0709000202000203" pitchFamily="49" charset="0"/>
              </a:rPr>
              <a:t>#.</a:t>
            </a:r>
            <a:r>
              <a:rPr lang="en-GB" dirty="0">
                <a:solidFill>
                  <a:srgbClr val="000000"/>
                </a:solidFill>
                <a:latin typeface="APL385 Unicode" panose="020B0709000202000203" pitchFamily="49" charset="0"/>
              </a:rPr>
              <a:t>II</a:t>
            </a: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</a:t>
            </a:r>
            <a:r>
              <a:rPr lang="en-GB" dirty="0" err="1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arg</a:t>
            </a: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0000"/>
                </a:solidFill>
                <a:latin typeface="APL385 Unicode" panose="020B0709000202000203" pitchFamily="49" charset="0"/>
              </a:rPr>
              <a:t>default </a:t>
            </a:r>
            <a:r>
              <a:rPr lang="en-GB" dirty="0">
                <a:solidFill>
                  <a:srgbClr val="0000FF"/>
                </a:solidFill>
                <a:latin typeface="APL385 Unicode" panose="020B0709000202000203" pitchFamily="49" charset="0"/>
              </a:rPr>
              <a:t>#.</a:t>
            </a:r>
            <a:r>
              <a:rPr lang="en-GB" dirty="0">
                <a:solidFill>
                  <a:srgbClr val="000000"/>
                </a:solidFill>
                <a:latin typeface="APL385 Unicode" panose="020B0709000202000203" pitchFamily="49" charset="0"/>
              </a:rPr>
              <a:t>isolate.</a:t>
            </a:r>
            <a:r>
              <a:rPr lang="en-GB" dirty="0">
                <a:solidFill>
                  <a:srgbClr val="C0C0C0"/>
                </a:solidFill>
                <a:latin typeface="APL385 Unicode" panose="020B0709000202000203" pitchFamily="49" charset="0"/>
              </a:rPr>
              <a:t>Values</a:t>
            </a:r>
            <a:r>
              <a:rPr lang="en-GB" dirty="0">
                <a:solidFill>
                  <a:srgbClr val="00000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8080"/>
                </a:solidFill>
                <a:latin typeface="APL385 Unicode" panose="020B0709000202000203" pitchFamily="49" charset="0"/>
              </a:rPr>
              <a:t>'</a:t>
            </a:r>
            <a:r>
              <a:rPr lang="en-GB" dirty="0" err="1">
                <a:solidFill>
                  <a:srgbClr val="008080"/>
                </a:solidFill>
                <a:latin typeface="APL385 Unicode" panose="020B0709000202000203" pitchFamily="49" charset="0"/>
              </a:rPr>
              <a:t>my_future</a:t>
            </a:r>
            <a:r>
              <a:rPr lang="en-GB" dirty="0">
                <a:solidFill>
                  <a:srgbClr val="008080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dirty="0">
                <a:solidFill>
                  <a:srgbClr val="000000"/>
                </a:solidFill>
                <a:latin typeface="APL385 Unicode" panose="020B0709000202000203" pitchFamily="49" charset="0"/>
              </a:rPr>
              <a:t>NOT READY YET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F90697D-9399-83ED-39D5-14BF03978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 of Concurrent Calls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57B2B73-32E0-1F37-CBAA-EF5CE4B571A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4461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6BD1F-303F-3D67-2760-14F4649F5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5F48B21-93AE-7766-7950-1BAAC4BF84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     </a:t>
            </a:r>
            <a:r>
              <a:rPr lang="en-GB" dirty="0" err="1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tid</a:t>
            </a: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00FF"/>
                </a:solidFill>
                <a:effectLst/>
                <a:latin typeface="APL385 Unicode" panose="020B0709000202000203" pitchFamily="49" charset="0"/>
              </a:rPr>
              <a:t>←</a:t>
            </a: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</a:t>
            </a:r>
            <a:r>
              <a:rPr lang="en-GB" dirty="0" err="1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DoThing</a:t>
            </a:r>
            <a:r>
              <a:rPr lang="en-GB" dirty="0">
                <a:solidFill>
                  <a:srgbClr val="0000FF"/>
                </a:solidFill>
                <a:effectLst/>
                <a:latin typeface="APL385 Unicode" panose="020B0709000202000203" pitchFamily="49" charset="0"/>
              </a:rPr>
              <a:t>&amp;</a:t>
            </a: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</a:t>
            </a:r>
            <a:r>
              <a:rPr lang="en-GB" dirty="0" err="1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arg</a:t>
            </a:r>
            <a:br>
              <a:rPr lang="en-GB" dirty="0">
                <a:effectLst/>
                <a:latin typeface="APL385 Unicode" panose="020B0709000202000203" pitchFamily="49" charset="0"/>
              </a:rPr>
            </a:br>
            <a:r>
              <a:rPr lang="en-GB" dirty="0">
                <a:effectLst/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r </a:t>
            </a:r>
            <a:r>
              <a:rPr lang="en-GB" dirty="0">
                <a:solidFill>
                  <a:srgbClr val="0000FF"/>
                </a:solidFill>
                <a:effectLst/>
                <a:latin typeface="APL385 Unicode" panose="020B0709000202000203" pitchFamily="49" charset="0"/>
              </a:rPr>
              <a:t>←</a:t>
            </a: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0080"/>
                </a:solidFill>
                <a:effectLst/>
                <a:latin typeface="APL385 Unicode" panose="020B0709000202000203" pitchFamily="49" charset="0"/>
              </a:rPr>
              <a:t>⎕TSYNC</a:t>
            </a: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</a:t>
            </a:r>
            <a:r>
              <a:rPr lang="en-GB" dirty="0" err="1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tid</a:t>
            </a:r>
            <a:endParaRPr lang="en-GB" dirty="0">
              <a:solidFill>
                <a:srgbClr val="000000"/>
              </a:solidFill>
              <a:effectLst/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effectLst/>
                <a:latin typeface="APL385 Unicode" panose="020B0709000202000203" pitchFamily="49" charset="0"/>
              </a:rPr>
              <a:t>VALUE ERROR: No result was provided when the context expected one</a:t>
            </a:r>
            <a:br>
              <a:rPr lang="en-GB" dirty="0">
                <a:effectLst/>
                <a:latin typeface="APL385 Unicode" panose="020B0709000202000203" pitchFamily="49" charset="0"/>
              </a:rPr>
            </a:br>
            <a:r>
              <a:rPr lang="en-GB" dirty="0">
                <a:effectLst/>
                <a:latin typeface="APL385 Unicode" panose="020B0709000202000203" pitchFamily="49" charset="0"/>
              </a:rPr>
              <a:t>Run[2] r←⎕TSYNC </a:t>
            </a:r>
            <a:r>
              <a:rPr lang="en-GB" dirty="0" err="1">
                <a:effectLst/>
                <a:latin typeface="APL385 Unicode" panose="020B0709000202000203" pitchFamily="49" charset="0"/>
              </a:rPr>
              <a:t>tid</a:t>
            </a:r>
            <a:br>
              <a:rPr lang="en-GB" dirty="0">
                <a:effectLst/>
                <a:latin typeface="APL385 Unicode" panose="020B0709000202000203" pitchFamily="49" charset="0"/>
              </a:rPr>
            </a:br>
            <a:r>
              <a:rPr lang="en-GB" dirty="0">
                <a:effectLst/>
                <a:latin typeface="APL385 Unicode" panose="020B0709000202000203" pitchFamily="49" charset="0"/>
              </a:rPr>
              <a:t>         ∧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683F1EA-D0B1-D727-2C38-3FC546505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 of Concurrent Calls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287281D-E06F-5F72-7DDD-C0A783BD36A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7711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E3B50-CB83-85F1-4853-1309BA3B3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7CBF04-EC10-E2CA-E791-E783A991A3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     r </a:t>
            </a:r>
            <a:r>
              <a:rPr lang="en-GB" dirty="0">
                <a:solidFill>
                  <a:srgbClr val="0000FF"/>
                </a:solidFill>
                <a:effectLst/>
                <a:latin typeface="APL385 Unicode" panose="020B0709000202000203" pitchFamily="49" charset="0"/>
              </a:rPr>
              <a:t>←</a:t>
            </a: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0080"/>
                </a:solidFill>
                <a:effectLst/>
                <a:latin typeface="APL385 Unicode" panose="020B0709000202000203" pitchFamily="49" charset="0"/>
              </a:rPr>
              <a:t>⎕TSYNC</a:t>
            </a: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</a:t>
            </a:r>
            <a:r>
              <a:rPr lang="en-GB" dirty="0" err="1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DoThing</a:t>
            </a:r>
            <a:r>
              <a:rPr lang="en-GB" dirty="0">
                <a:solidFill>
                  <a:srgbClr val="0000FF"/>
                </a:solidFill>
                <a:effectLst/>
                <a:latin typeface="APL385 Unicode" panose="020B0709000202000203" pitchFamily="49" charset="0"/>
              </a:rPr>
              <a:t>&amp;</a:t>
            </a: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</a:t>
            </a:r>
            <a:r>
              <a:rPr lang="en-GB" dirty="0" err="1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arg</a:t>
            </a:r>
            <a:endParaRPr lang="en-GB" dirty="0">
              <a:solidFill>
                <a:srgbClr val="000000"/>
              </a:solidFill>
              <a:effectLst/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000000"/>
                </a:solidFill>
                <a:latin typeface="APL385 Unicode" panose="020B0709000202000203" pitchFamily="49" charset="0"/>
              </a:rPr>
              <a:t>      r </a:t>
            </a:r>
            <a:r>
              <a:rPr lang="en-GB" dirty="0">
                <a:solidFill>
                  <a:srgbClr val="0000FF"/>
                </a:solidFill>
                <a:latin typeface="APL385 Unicode" panose="020B0709000202000203" pitchFamily="49" charset="0"/>
              </a:rPr>
              <a:t>←</a:t>
            </a:r>
            <a:r>
              <a:rPr lang="en-GB" dirty="0">
                <a:solidFill>
                  <a:srgbClr val="00000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0080"/>
                </a:solidFill>
                <a:latin typeface="APL385 Unicode" panose="020B0709000202000203" pitchFamily="49" charset="0"/>
              </a:rPr>
              <a:t>⎕TSYNC</a:t>
            </a:r>
            <a:r>
              <a:rPr lang="en-GB" dirty="0">
                <a:solidFill>
                  <a:srgbClr val="000000"/>
                </a:solidFill>
                <a:latin typeface="APL385 Unicode" panose="020B0709000202000203" pitchFamily="49" charset="0"/>
              </a:rPr>
              <a:t> </a:t>
            </a:r>
            <a:r>
              <a:rPr lang="en-GB" dirty="0" err="1">
                <a:solidFill>
                  <a:srgbClr val="000000"/>
                </a:solidFill>
                <a:latin typeface="APL385 Unicode" panose="020B0709000202000203" pitchFamily="49" charset="0"/>
              </a:rPr>
              <a:t>HttpCommand.Get</a:t>
            </a:r>
            <a:r>
              <a:rPr lang="en-GB" dirty="0">
                <a:solidFill>
                  <a:srgbClr val="0000FF"/>
                </a:solidFill>
                <a:latin typeface="APL385 Unicode" panose="020B0709000202000203" pitchFamily="49" charset="0"/>
              </a:rPr>
              <a:t>&amp;¨</a:t>
            </a:r>
            <a:r>
              <a:rPr lang="en-GB" dirty="0">
                <a:solidFill>
                  <a:srgbClr val="000000"/>
                </a:solidFill>
                <a:latin typeface="APL385 Unicode" panose="020B0709000202000203" pitchFamily="49" charset="0"/>
              </a:rPr>
              <a:t> </a:t>
            </a:r>
            <a:r>
              <a:rPr lang="en-GB" dirty="0" err="1">
                <a:solidFill>
                  <a:srgbClr val="000000"/>
                </a:solidFill>
                <a:latin typeface="APL385 Unicode" panose="020B0709000202000203" pitchFamily="49" charset="0"/>
              </a:rPr>
              <a:t>urls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8E3F74F-843E-8400-9A54-87723914A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 of Concurrent Calls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D9C574E-6964-EC01-A711-7808F840605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6129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6087DB-95B2-D3B3-37B9-5CA7D45A8C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552755"/>
            <a:ext cx="8475416" cy="2954210"/>
          </a:xfrm>
        </p:spPr>
        <p:txBody>
          <a:bodyPr/>
          <a:lstStyle/>
          <a:p>
            <a:r>
              <a:rPr lang="en-GB" dirty="0"/>
              <a:t>Demo</a:t>
            </a:r>
          </a:p>
          <a:p>
            <a:r>
              <a:rPr lang="en-GB" dirty="0"/>
              <a:t>Discuss</a:t>
            </a:r>
          </a:p>
          <a:p>
            <a:r>
              <a:rPr lang="en-GB" dirty="0"/>
              <a:t>Try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3D5B214-E62A-3B8F-1CAF-590B47479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Parallelisation Performance</a:t>
            </a:r>
          </a:p>
        </p:txBody>
      </p:sp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81B5C1D4-E755-8CE0-B625-24C9D605612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78609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60F125B-BFEF-7595-4CE1-9AAB1E97A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Parallelisation Performance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B0E891B-8EF2-7E64-FAFD-A04F652F9A3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BBD73FA-7245-4D5A-E9E5-93A85C9535A5}"/>
              </a:ext>
            </a:extLst>
          </p:cNvPr>
          <p:cNvSpPr/>
          <p:nvPr/>
        </p:nvSpPr>
        <p:spPr>
          <a:xfrm>
            <a:off x="762124" y="1561934"/>
            <a:ext cx="2815389" cy="42511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Main: </a:t>
            </a:r>
            <a:r>
              <a:rPr lang="en-GB" dirty="0" err="1">
                <a:solidFill>
                  <a:sysClr val="windowText" lastClr="000000"/>
                </a:solidFill>
                <a:latin typeface="APL385 Unicode" panose="020B0709000202000203" pitchFamily="49" charset="0"/>
              </a:rPr>
              <a:t>DoThing</a:t>
            </a:r>
            <a:r>
              <a:rPr lang="en-GB" dirty="0">
                <a:solidFill>
                  <a:sysClr val="windowText" lastClr="000000"/>
                </a:solidFill>
                <a:latin typeface="APL385 Unicode" panose="020B0709000202000203" pitchFamily="49" charset="0"/>
              </a:rPr>
              <a:t> II </a:t>
            </a:r>
            <a:r>
              <a:rPr lang="en-GB" dirty="0" err="1">
                <a:solidFill>
                  <a:sysClr val="windowText" lastClr="000000"/>
                </a:solidFill>
                <a:latin typeface="APL385 Unicode" panose="020B0709000202000203" pitchFamily="49" charset="0"/>
              </a:rPr>
              <a:t>arg</a:t>
            </a:r>
            <a:endParaRPr lang="en-GB" dirty="0">
              <a:solidFill>
                <a:sysClr val="windowText" lastClr="000000"/>
              </a:solidFill>
              <a:latin typeface="APL385 Unicode" panose="020B0709000202000203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110CE19-D8CA-AA65-C6BC-D35092ED8BFE}"/>
              </a:ext>
            </a:extLst>
          </p:cNvPr>
          <p:cNvSpPr/>
          <p:nvPr/>
        </p:nvSpPr>
        <p:spPr>
          <a:xfrm>
            <a:off x="4838265" y="1561934"/>
            <a:ext cx="2815389" cy="42511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ysClr val="windowText" lastClr="000000"/>
                </a:solidFill>
              </a:rPr>
              <a:t>dyalogrt.exe</a:t>
            </a:r>
            <a:endParaRPr lang="en-GB" dirty="0">
              <a:solidFill>
                <a:sysClr val="windowText" lastClr="000000"/>
              </a:solidFill>
              <a:latin typeface="APL385 Unicode" panose="020B0709000202000203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83989D-9910-4CE0-4257-9A773AD67F7A}"/>
              </a:ext>
            </a:extLst>
          </p:cNvPr>
          <p:cNvSpPr txBox="1"/>
          <p:nvPr/>
        </p:nvSpPr>
        <p:spPr>
          <a:xfrm>
            <a:off x="5728601" y="2202418"/>
            <a:ext cx="10347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startup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74C50D-3821-5913-6C9A-DB42DDB54AA6}"/>
              </a:ext>
            </a:extLst>
          </p:cNvPr>
          <p:cNvSpPr txBox="1"/>
          <p:nvPr/>
        </p:nvSpPr>
        <p:spPr>
          <a:xfrm>
            <a:off x="5534526" y="2640729"/>
            <a:ext cx="1812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Fix code, </a:t>
            </a:r>
            <a:r>
              <a:rPr lang="en-GB" dirty="0" err="1"/>
              <a:t>arg</a:t>
            </a:r>
            <a:endParaRPr lang="en-GB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42B2D3-6799-5BF4-A26E-F470C5EFEC59}"/>
              </a:ext>
            </a:extLst>
          </p:cNvPr>
          <p:cNvSpPr txBox="1"/>
          <p:nvPr/>
        </p:nvSpPr>
        <p:spPr>
          <a:xfrm>
            <a:off x="1167186" y="2640729"/>
            <a:ext cx="20052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send code, </a:t>
            </a:r>
            <a:r>
              <a:rPr lang="en-GB" dirty="0" err="1"/>
              <a:t>arg</a:t>
            </a:r>
            <a:endParaRPr lang="en-GB" dirty="0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995C11EA-034B-5D51-A752-ACE5ED775E3F}"/>
              </a:ext>
            </a:extLst>
          </p:cNvPr>
          <p:cNvSpPr/>
          <p:nvPr/>
        </p:nvSpPr>
        <p:spPr>
          <a:xfrm>
            <a:off x="191905" y="1561934"/>
            <a:ext cx="344905" cy="296194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EE6DCFB-9F3B-C628-34E0-3C0586A1DDCC}"/>
              </a:ext>
            </a:extLst>
          </p:cNvPr>
          <p:cNvCxnSpPr>
            <a:stCxn id="11" idx="3"/>
          </p:cNvCxnSpPr>
          <p:nvPr/>
        </p:nvCxnSpPr>
        <p:spPr>
          <a:xfrm>
            <a:off x="3172449" y="2825395"/>
            <a:ext cx="2017172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B647ADB-B70D-0AA6-9B40-934D3F6E9F4C}"/>
              </a:ext>
            </a:extLst>
          </p:cNvPr>
          <p:cNvSpPr txBox="1"/>
          <p:nvPr/>
        </p:nvSpPr>
        <p:spPr>
          <a:xfrm>
            <a:off x="5406189" y="3079040"/>
            <a:ext cx="1812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Execute code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BDC4F2-D9AC-0037-4D0C-1FBC6E8CE6F6}"/>
              </a:ext>
            </a:extLst>
          </p:cNvPr>
          <p:cNvSpPr txBox="1"/>
          <p:nvPr/>
        </p:nvSpPr>
        <p:spPr>
          <a:xfrm>
            <a:off x="5478378" y="3517351"/>
            <a:ext cx="1333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Send result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56EBEB4-FEA1-CBFF-A409-24BE5D901B08}"/>
              </a:ext>
            </a:extLst>
          </p:cNvPr>
          <p:cNvSpPr txBox="1"/>
          <p:nvPr/>
        </p:nvSpPr>
        <p:spPr>
          <a:xfrm>
            <a:off x="1167186" y="3517351"/>
            <a:ext cx="20052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Receive result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08C7FFB-09DB-5C20-B8C7-8A5BA11B304E}"/>
              </a:ext>
            </a:extLst>
          </p:cNvPr>
          <p:cNvCxnSpPr>
            <a:cxnSpLocks/>
          </p:cNvCxnSpPr>
          <p:nvPr/>
        </p:nvCxnSpPr>
        <p:spPr>
          <a:xfrm flipH="1">
            <a:off x="3150452" y="3679938"/>
            <a:ext cx="2017172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120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  <p:bldP spid="10" grpId="0"/>
      <p:bldP spid="11" grpId="0"/>
      <p:bldP spid="12" grpId="0" animBg="1"/>
      <p:bldP spid="15" grpId="0"/>
      <p:bldP spid="16" grpId="0"/>
      <p:bldP spid="17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8FDD19-1A19-5C2E-04DB-441FEBCCC9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526875"/>
            <a:ext cx="8458164" cy="2980090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Collatz step: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			{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			    1=⍵: 1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			    2|⍵: 1+3×⍵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			    ⍵÷2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			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9F34A98-DD5A-2EE3-DABC-CA69AE52E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Parallelisation Performance</a:t>
            </a:r>
          </a:p>
        </p:txBody>
      </p:sp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6943FC04-3B64-1C8F-D05E-CAF54EB6615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23154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A829F-27D3-6636-02AE-E1CCA75D8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38E466-D193-2625-D3F8-434B4C6795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526875"/>
            <a:ext cx="8458164" cy="2980090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Collatz step: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	{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	    1=⍵: 1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	    2|⍵: 1+3×⍵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	    ⍵÷2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	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51F9ED7-3660-BC74-E7A8-ABD5E87B3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Parallelisation Performance</a:t>
            </a:r>
          </a:p>
        </p:txBody>
      </p:sp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D73D8F0B-4101-ACFB-EA71-48B49CFE865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7E459F-700C-8042-41C5-5D4F71A0565E}"/>
              </a:ext>
            </a:extLst>
          </p:cNvPr>
          <p:cNvSpPr txBox="1"/>
          <p:nvPr/>
        </p:nvSpPr>
        <p:spPr>
          <a:xfrm>
            <a:off x="4911922" y="2026719"/>
            <a:ext cx="3318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latin typeface="APL385 Unicode" panose="020B0709000202000203" pitchFamily="49" charset="0"/>
              </a:rPr>
              <a:t>3 10 5 16 8 4 2 1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DA49B8-B6F1-1935-55DC-E3E5289D4B07}"/>
              </a:ext>
            </a:extLst>
          </p:cNvPr>
          <p:cNvSpPr txBox="1"/>
          <p:nvPr/>
        </p:nvSpPr>
        <p:spPr>
          <a:xfrm>
            <a:off x="4911921" y="2675037"/>
            <a:ext cx="11063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latin typeface="APL385 Unicode" panose="020B0709000202000203" pitchFamily="49" charset="0"/>
              </a:rPr>
              <a:t>4 2 1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7E10C7-380E-1C9B-FE75-598B968C2A4F}"/>
              </a:ext>
            </a:extLst>
          </p:cNvPr>
          <p:cNvSpPr txBox="1"/>
          <p:nvPr/>
        </p:nvSpPr>
        <p:spPr>
          <a:xfrm>
            <a:off x="4911921" y="3309227"/>
            <a:ext cx="23968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latin typeface="APL385 Unicode" panose="020B0709000202000203" pitchFamily="49" charset="0"/>
              </a:rPr>
              <a:t>5 16 8 4 2 1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14222E-CA65-EFE6-3B08-7D85580A3504}"/>
              </a:ext>
            </a:extLst>
          </p:cNvPr>
          <p:cNvSpPr txBox="1"/>
          <p:nvPr/>
        </p:nvSpPr>
        <p:spPr>
          <a:xfrm>
            <a:off x="4911921" y="3943417"/>
            <a:ext cx="36872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latin typeface="APL385 Unicode" panose="020B0709000202000203" pitchFamily="49" charset="0"/>
              </a:rPr>
              <a:t>6 3 10 5 16 8 4 2 1</a:t>
            </a:r>
          </a:p>
        </p:txBody>
      </p:sp>
    </p:spTree>
    <p:extLst>
      <p:ext uri="{BB962C8B-B14F-4D97-AF65-F5344CB8AC3E}">
        <p14:creationId xmlns:p14="http://schemas.microsoft.com/office/powerpoint/2010/main" val="32365370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Wor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wd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wd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wd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wd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6" grpId="0" build="p"/>
      <p:bldP spid="7" grpId="0" build="p"/>
      <p:bldP spid="8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96682-9933-648F-972B-E4B527C0B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743E93-637C-9CEA-3594-F8DAD4BB17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526875"/>
            <a:ext cx="8458164" cy="2980090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]get -u </a:t>
            </a:r>
            <a:r>
              <a:rPr lang="en-GB" dirty="0">
                <a:latin typeface="APL385 Unicode" panose="020B0709000202000203" pitchFamily="49" charset="0"/>
                <a:hlinkClick r:id="rId3"/>
              </a:rPr>
              <a:t>https://github.com/dyalog-training/2026-MA3</a:t>
            </a: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#.⎕CY'isolate'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chunks←10 Splits 2 2e6</a:t>
            </a:r>
          </a:p>
          <a:p>
            <a:pPr marL="0" indent="0">
              <a:buNone/>
            </a:pP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Collatz 2 2e6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Best </a:t>
            </a:r>
            <a:r>
              <a:rPr lang="en-GB" dirty="0" err="1">
                <a:latin typeface="APL385 Unicode" panose="020B0709000202000203" pitchFamily="49" charset="0"/>
              </a:rPr>
              <a:t>Collatz¨chunks</a:t>
            </a: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Best ⎕TSYNC Collatz&amp;¨chunks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Best Collatz IÏ chunks</a:t>
            </a:r>
          </a:p>
          <a:p>
            <a:pPr marL="0" indent="0">
              <a:buNone/>
            </a:pP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115E3A6-CC36-F704-5D38-826FCF233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Parallelisation Performance</a:t>
            </a:r>
          </a:p>
        </p:txBody>
      </p:sp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FB756C0B-15AF-3A2F-0963-0263C3A3FA63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F0BCD2-244E-7614-71AA-D3651F73C20C}"/>
              </a:ext>
            </a:extLst>
          </p:cNvPr>
          <p:cNvSpPr txBox="1"/>
          <p:nvPr/>
        </p:nvSpPr>
        <p:spPr>
          <a:xfrm>
            <a:off x="4572000" y="2743872"/>
            <a:ext cx="45865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Which expressions are fastest (number 1-4)?</a:t>
            </a:r>
          </a:p>
          <a:p>
            <a:r>
              <a:rPr lang="en-GB" dirty="0"/>
              <a:t>Why?</a:t>
            </a:r>
          </a:p>
        </p:txBody>
      </p:sp>
    </p:spTree>
    <p:extLst>
      <p:ext uri="{BB962C8B-B14F-4D97-AF65-F5344CB8AC3E}">
        <p14:creationId xmlns:p14="http://schemas.microsoft.com/office/powerpoint/2010/main" val="29517283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47418-61C7-59FC-C70C-660AFD5FD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288196-85D3-814F-A7ED-A5C31C8AE5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526875"/>
            <a:ext cx="8458164" cy="2980090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]get -u </a:t>
            </a:r>
            <a:r>
              <a:rPr lang="en-GB" dirty="0">
                <a:latin typeface="APL385 Unicode" panose="020B0709000202000203" pitchFamily="49" charset="0"/>
                <a:hlinkClick r:id="rId3"/>
              </a:rPr>
              <a:t>https://github.com/dyalog-training/2026-MA3</a:t>
            </a: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#.⎕CY'isolate'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chunks←10 Splits 2 2e6</a:t>
            </a:r>
          </a:p>
          <a:p>
            <a:pPr marL="0" indent="0">
              <a:buNone/>
            </a:pP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Collatz 2 2e6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Best </a:t>
            </a:r>
            <a:r>
              <a:rPr lang="en-GB" dirty="0" err="1">
                <a:latin typeface="APL385 Unicode" panose="020B0709000202000203" pitchFamily="49" charset="0"/>
              </a:rPr>
              <a:t>Collatz¨chunks</a:t>
            </a: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Best ⎕TSYNC Collatz&amp;¨chunks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Best Collatz IÏ chunks</a:t>
            </a:r>
          </a:p>
          <a:p>
            <a:pPr marL="0" indent="0">
              <a:buNone/>
            </a:pP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F920BC9-D110-806B-56D3-B0C1E78C0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Parallelisation Performance</a:t>
            </a:r>
          </a:p>
        </p:txBody>
      </p:sp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AB3AB1B2-ED6F-A14F-5A44-A56269CB917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868939-AB93-7B28-A4CB-9F3DD688D471}"/>
              </a:ext>
            </a:extLst>
          </p:cNvPr>
          <p:cNvSpPr txBox="1"/>
          <p:nvPr/>
        </p:nvSpPr>
        <p:spPr>
          <a:xfrm>
            <a:off x="4572000" y="2743872"/>
            <a:ext cx="45865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Which expressions are fastest (number 1-4)?</a:t>
            </a:r>
          </a:p>
          <a:p>
            <a:r>
              <a:rPr lang="en-GB" dirty="0"/>
              <a:t>Why?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26D35A1-32A1-531B-3537-38A84624C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 t="13813" b="10792"/>
          <a:stretch>
            <a:fillRect/>
          </a:stretch>
        </p:blipFill>
        <p:spPr>
          <a:xfrm>
            <a:off x="2454464" y="305060"/>
            <a:ext cx="4235073" cy="4258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6157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386F0-1ED9-724F-90FB-DD0551DCF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F84191-8DFA-1E12-4B8F-9E45CA8CB9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46855"/>
            <a:ext cx="8458164" cy="2980090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{Collatz ⍵}_Time 2 2e6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{Best Collatz¨⍵}_Time chunks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{Best ⎕TSYNC Collatz&amp;¨⍵}_Time chunks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{Best Collatz IÏ ⍵}_Time chunks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A0C594F-E1D3-5E40-B88A-0FC1465BF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Parallelisation Performance</a:t>
            </a:r>
          </a:p>
        </p:txBody>
      </p:sp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2EB2BC24-2B21-3543-C1FE-47F336DE545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95011C-45E3-954F-8F98-0464AD9C052E}"/>
              </a:ext>
            </a:extLst>
          </p:cNvPr>
          <p:cNvSpPr txBox="1"/>
          <p:nvPr/>
        </p:nvSpPr>
        <p:spPr>
          <a:xfrm>
            <a:off x="5907132" y="1744238"/>
            <a:ext cx="32368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Use the </a:t>
            </a:r>
            <a:r>
              <a:rPr lang="en-GB" dirty="0">
                <a:latin typeface="APL385 Unicode" panose="020B0709000202000203" pitchFamily="49" charset="0"/>
              </a:rPr>
              <a:t>_Time</a:t>
            </a:r>
            <a:r>
              <a:rPr lang="en-GB" dirty="0"/>
              <a:t> operator</a:t>
            </a:r>
          </a:p>
          <a:p>
            <a:endParaRPr lang="en-GB" dirty="0"/>
          </a:p>
          <a:p>
            <a:r>
              <a:rPr lang="en-GB" dirty="0"/>
              <a:t>Try using fewer chunks</a:t>
            </a:r>
          </a:p>
          <a:p>
            <a:r>
              <a:rPr lang="en-GB" dirty="0"/>
              <a:t>Try using more chunks</a:t>
            </a:r>
          </a:p>
        </p:txBody>
      </p:sp>
    </p:spTree>
    <p:extLst>
      <p:ext uri="{BB962C8B-B14F-4D97-AF65-F5344CB8AC3E}">
        <p14:creationId xmlns:p14="http://schemas.microsoft.com/office/powerpoint/2010/main" val="2754917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31001AD-EA98-9DE6-1782-90F538F2D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APL Thread Safety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7C14926-7C78-346F-C6B6-908B4024BFD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14" name="Graphic 13" descr="Warning with solid fill">
            <a:extLst>
              <a:ext uri="{FF2B5EF4-FFF2-40B4-BE49-F238E27FC236}">
                <a16:creationId xmlns:a16="http://schemas.microsoft.com/office/drawing/2014/main" id="{0D4B274C-0823-7731-E03F-BCE412AB1F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56754" y="1356504"/>
            <a:ext cx="2430492" cy="2430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7783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F297B-6817-2E85-ECE4-4474BC65A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B158AC-5AD1-D670-876A-9A1A37F73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APL Thread Safety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B0F15DD-50E9-1942-46E3-1B5CA3D17FF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CF20C0DC-4A85-B12A-D414-1C8812181F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356754" y="1638834"/>
            <a:ext cx="2430492" cy="186583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6C27CBD-05FC-947D-6DAD-F329684D4FFA}"/>
              </a:ext>
            </a:extLst>
          </p:cNvPr>
          <p:cNvSpPr txBox="1"/>
          <p:nvPr/>
        </p:nvSpPr>
        <p:spPr>
          <a:xfrm>
            <a:off x="120771" y="4339087"/>
            <a:ext cx="21916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i="1" dirty="0"/>
              <a:t>hardhat by Zach Hainsworth</a:t>
            </a:r>
          </a:p>
          <a:p>
            <a:r>
              <a:rPr lang="en-GB" sz="1200" i="1" dirty="0"/>
              <a:t>from Noun Project (CC BY 3.0)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6326236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305DB82-D0F0-65E2-E9C8-ADA30C93B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Isolates &amp; Green Threads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B5C716F-5E7E-4B91-F189-F6B7995C82B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4FA4014-2703-E862-D48F-31AAA25F6920}"/>
              </a:ext>
            </a:extLst>
          </p:cNvPr>
          <p:cNvSpPr/>
          <p:nvPr/>
        </p:nvSpPr>
        <p:spPr>
          <a:xfrm>
            <a:off x="3061546" y="1178268"/>
            <a:ext cx="1131147" cy="4199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/>
              <a:t>Jarvis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2BFE243-A9F0-3E27-E827-85E1BE81B7A0}"/>
              </a:ext>
            </a:extLst>
          </p:cNvPr>
          <p:cNvSpPr/>
          <p:nvPr/>
        </p:nvSpPr>
        <p:spPr>
          <a:xfrm>
            <a:off x="2961639" y="2571750"/>
            <a:ext cx="1330960" cy="483516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/>
              <a:t>request</a:t>
            </a:r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1CC172CE-30DC-F119-1C69-1187F0143F87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 rot="5400000">
            <a:off x="3140352" y="2084982"/>
            <a:ext cx="973536" cy="1"/>
          </a:xfrm>
          <a:prstGeom prst="bentConnector3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9D44B365-987D-25D5-88F9-1CE5A9580FDB}"/>
              </a:ext>
            </a:extLst>
          </p:cNvPr>
          <p:cNvSpPr/>
          <p:nvPr/>
        </p:nvSpPr>
        <p:spPr>
          <a:xfrm>
            <a:off x="2868084" y="3504647"/>
            <a:ext cx="1530773" cy="41994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$$$ compute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F170A65-5D24-48B6-8596-28BA4B4E54FE}"/>
              </a:ext>
            </a:extLst>
          </p:cNvPr>
          <p:cNvCxnSpPr/>
          <p:nvPr/>
        </p:nvCxnSpPr>
        <p:spPr>
          <a:xfrm>
            <a:off x="3627117" y="3065215"/>
            <a:ext cx="0" cy="439431"/>
          </a:xfrm>
          <a:prstGeom prst="line">
            <a:avLst/>
          </a:prstGeom>
          <a:ln w="38100">
            <a:solidFill>
              <a:srgbClr val="6C280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6402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C0EA358-C009-1AC3-639A-9BBAF132E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4015770-15B1-F1E1-7C0C-4B6213320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Isolates &amp; Green Threads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8EE947F-58B4-E387-E80C-8847E931BA0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3AB8136-CD5C-E6F4-49D1-F19483C0FE39}"/>
              </a:ext>
            </a:extLst>
          </p:cNvPr>
          <p:cNvSpPr/>
          <p:nvPr/>
        </p:nvSpPr>
        <p:spPr>
          <a:xfrm>
            <a:off x="3061543" y="1180871"/>
            <a:ext cx="1131147" cy="4199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/>
              <a:t>Jarvis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631C151-E030-199E-619E-4CF87C01C075}"/>
              </a:ext>
            </a:extLst>
          </p:cNvPr>
          <p:cNvSpPr/>
          <p:nvPr/>
        </p:nvSpPr>
        <p:spPr>
          <a:xfrm>
            <a:off x="1188720" y="2571750"/>
            <a:ext cx="1330960" cy="483516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/>
              <a:t>request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3A35226-254C-4DFA-D3DC-7F4C5999928E}"/>
              </a:ext>
            </a:extLst>
          </p:cNvPr>
          <p:cNvSpPr/>
          <p:nvPr/>
        </p:nvSpPr>
        <p:spPr>
          <a:xfrm>
            <a:off x="2961639" y="2571750"/>
            <a:ext cx="1330960" cy="483516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/>
              <a:t>request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58489E6-6857-296E-C1C3-75059F170F97}"/>
              </a:ext>
            </a:extLst>
          </p:cNvPr>
          <p:cNvSpPr/>
          <p:nvPr/>
        </p:nvSpPr>
        <p:spPr>
          <a:xfrm>
            <a:off x="4734558" y="2581699"/>
            <a:ext cx="1330960" cy="483516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/>
              <a:t>request</a:t>
            </a: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64428001-7658-6D30-5251-CDB99CF0ACB5}"/>
              </a:ext>
            </a:extLst>
          </p:cNvPr>
          <p:cNvCxnSpPr>
            <a:stCxn id="5" idx="2"/>
            <a:endCxn id="6" idx="0"/>
          </p:cNvCxnSpPr>
          <p:nvPr/>
        </p:nvCxnSpPr>
        <p:spPr>
          <a:xfrm rot="5400000">
            <a:off x="2255193" y="1199825"/>
            <a:ext cx="970933" cy="1772917"/>
          </a:xfrm>
          <a:prstGeom prst="bentConnector3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2E18DB78-BEE2-57EB-0E16-E4963D31E068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 rot="16200000" flipH="1">
            <a:off x="3141652" y="2086282"/>
            <a:ext cx="970933" cy="2"/>
          </a:xfrm>
          <a:prstGeom prst="bentConnector3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28F073AB-2900-4FCF-05A6-E52CD6A182C0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 rot="16200000" flipH="1">
            <a:off x="4023136" y="1204797"/>
            <a:ext cx="980882" cy="1772921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9C42F736-3475-EE78-C5EA-9AE89993CAE7}"/>
              </a:ext>
            </a:extLst>
          </p:cNvPr>
          <p:cNvSpPr txBox="1"/>
          <p:nvPr/>
        </p:nvSpPr>
        <p:spPr>
          <a:xfrm>
            <a:off x="2316480" y="1781387"/>
            <a:ext cx="322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latin typeface="APL385 Unicode" panose="020B0709000202000203" pitchFamily="49" charset="0"/>
              </a:rPr>
              <a:t>&amp;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F750FD-9E2A-2106-D482-FA688CE48D84}"/>
              </a:ext>
            </a:extLst>
          </p:cNvPr>
          <p:cNvSpPr txBox="1"/>
          <p:nvPr/>
        </p:nvSpPr>
        <p:spPr>
          <a:xfrm>
            <a:off x="3585179" y="2105301"/>
            <a:ext cx="322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latin typeface="APL385 Unicode" panose="020B0709000202000203" pitchFamily="49" charset="0"/>
              </a:rPr>
              <a:t>&amp;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8DE427E-0228-5373-67FA-DD3DED4803AF}"/>
              </a:ext>
            </a:extLst>
          </p:cNvPr>
          <p:cNvSpPr txBox="1"/>
          <p:nvPr/>
        </p:nvSpPr>
        <p:spPr>
          <a:xfrm>
            <a:off x="4740908" y="1638852"/>
            <a:ext cx="322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latin typeface="APL385 Unicode" panose="020B0709000202000203" pitchFamily="49" charset="0"/>
              </a:rPr>
              <a:t>&amp;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39ABC0C-04FA-631E-D97C-5C826ABF092E}"/>
              </a:ext>
            </a:extLst>
          </p:cNvPr>
          <p:cNvSpPr/>
          <p:nvPr/>
        </p:nvSpPr>
        <p:spPr>
          <a:xfrm>
            <a:off x="1108231" y="3504648"/>
            <a:ext cx="1530773" cy="41994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$$$ compute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1A057BF9-FA66-0C95-C8DA-899AE8A3B54C}"/>
              </a:ext>
            </a:extLst>
          </p:cNvPr>
          <p:cNvSpPr/>
          <p:nvPr/>
        </p:nvSpPr>
        <p:spPr>
          <a:xfrm>
            <a:off x="2868084" y="3504647"/>
            <a:ext cx="1530773" cy="41994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$$$ compute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E8CD4017-3B0B-B9A9-5535-7836E5279540}"/>
              </a:ext>
            </a:extLst>
          </p:cNvPr>
          <p:cNvSpPr/>
          <p:nvPr/>
        </p:nvSpPr>
        <p:spPr>
          <a:xfrm>
            <a:off x="4717990" y="3504646"/>
            <a:ext cx="1530773" cy="41994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$$$ compute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A348D35-EFC0-9165-BF1C-257382BF2143}"/>
              </a:ext>
            </a:extLst>
          </p:cNvPr>
          <p:cNvCxnSpPr/>
          <p:nvPr/>
        </p:nvCxnSpPr>
        <p:spPr>
          <a:xfrm>
            <a:off x="1873617" y="3055266"/>
            <a:ext cx="0" cy="439431"/>
          </a:xfrm>
          <a:prstGeom prst="line">
            <a:avLst/>
          </a:prstGeom>
          <a:ln w="38100">
            <a:solidFill>
              <a:srgbClr val="6C280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764D14-3265-5CDA-B6E9-E35B93FDA3CF}"/>
              </a:ext>
            </a:extLst>
          </p:cNvPr>
          <p:cNvCxnSpPr/>
          <p:nvPr/>
        </p:nvCxnSpPr>
        <p:spPr>
          <a:xfrm>
            <a:off x="3627117" y="3065215"/>
            <a:ext cx="0" cy="439431"/>
          </a:xfrm>
          <a:prstGeom prst="line">
            <a:avLst/>
          </a:prstGeom>
          <a:ln w="38100">
            <a:solidFill>
              <a:srgbClr val="6C280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F86EA3D-A8EB-1E4A-4875-D7C3E4E28771}"/>
              </a:ext>
            </a:extLst>
          </p:cNvPr>
          <p:cNvCxnSpPr/>
          <p:nvPr/>
        </p:nvCxnSpPr>
        <p:spPr>
          <a:xfrm>
            <a:off x="5380617" y="3075164"/>
            <a:ext cx="0" cy="439431"/>
          </a:xfrm>
          <a:prstGeom prst="line">
            <a:avLst/>
          </a:prstGeom>
          <a:ln w="38100">
            <a:solidFill>
              <a:srgbClr val="6C280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8038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A7C33E2-FC4D-E702-414D-AA6639317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F832E0F-CDFB-6300-2E2D-D9F92C9BA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Isolates &amp; Green Threads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6EBFA7D-31EB-883D-D3DF-3E3BB73CF9D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328F867-23EE-6896-BCF6-358A66E1470D}"/>
              </a:ext>
            </a:extLst>
          </p:cNvPr>
          <p:cNvSpPr/>
          <p:nvPr/>
        </p:nvSpPr>
        <p:spPr>
          <a:xfrm>
            <a:off x="3061543" y="1180871"/>
            <a:ext cx="1131147" cy="4199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/>
              <a:t>Jarvis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37A46D0-83A6-F2B8-484B-129C637FF5C1}"/>
              </a:ext>
            </a:extLst>
          </p:cNvPr>
          <p:cNvSpPr/>
          <p:nvPr/>
        </p:nvSpPr>
        <p:spPr>
          <a:xfrm>
            <a:off x="1188720" y="2571750"/>
            <a:ext cx="1330960" cy="483516"/>
          </a:xfrm>
          <a:prstGeom prst="round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/>
              <a:t>request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50AA991-FA39-E20A-1FD2-F5DE709670FA}"/>
              </a:ext>
            </a:extLst>
          </p:cNvPr>
          <p:cNvSpPr/>
          <p:nvPr/>
        </p:nvSpPr>
        <p:spPr>
          <a:xfrm>
            <a:off x="2961639" y="2571750"/>
            <a:ext cx="1330960" cy="483516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/>
              <a:t>request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184F78-30B8-BCA8-55E4-2EF8434EAFA3}"/>
              </a:ext>
            </a:extLst>
          </p:cNvPr>
          <p:cNvSpPr/>
          <p:nvPr/>
        </p:nvSpPr>
        <p:spPr>
          <a:xfrm>
            <a:off x="4734558" y="2581699"/>
            <a:ext cx="1330960" cy="483516"/>
          </a:xfrm>
          <a:prstGeom prst="round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/>
              <a:t>request</a:t>
            </a: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ECFFB83-B6B2-7D38-708F-00C65ED70474}"/>
              </a:ext>
            </a:extLst>
          </p:cNvPr>
          <p:cNvCxnSpPr>
            <a:stCxn id="5" idx="2"/>
            <a:endCxn id="6" idx="0"/>
          </p:cNvCxnSpPr>
          <p:nvPr/>
        </p:nvCxnSpPr>
        <p:spPr>
          <a:xfrm rot="5400000">
            <a:off x="2255193" y="1199825"/>
            <a:ext cx="970933" cy="1772917"/>
          </a:xfrm>
          <a:prstGeom prst="bentConnector3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356CDD0E-5EC7-A5B1-D2AD-4B3499791B2F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 rot="16200000" flipH="1">
            <a:off x="3141652" y="2086282"/>
            <a:ext cx="970933" cy="2"/>
          </a:xfrm>
          <a:prstGeom prst="bentConnector3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1E1192BC-0E65-AFD3-A39D-9116BC8CFD77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 rot="16200000" flipH="1">
            <a:off x="4023136" y="1204797"/>
            <a:ext cx="980882" cy="1772921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33CF6AEE-0627-D6D4-C7D4-A913A56B0F4E}"/>
              </a:ext>
            </a:extLst>
          </p:cNvPr>
          <p:cNvSpPr txBox="1"/>
          <p:nvPr/>
        </p:nvSpPr>
        <p:spPr>
          <a:xfrm>
            <a:off x="2316480" y="1781387"/>
            <a:ext cx="322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latin typeface="APL385 Unicode" panose="020B0709000202000203" pitchFamily="49" charset="0"/>
              </a:rPr>
              <a:t>&amp;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D094BF7-72CA-45F1-86D0-D8A25429C648}"/>
              </a:ext>
            </a:extLst>
          </p:cNvPr>
          <p:cNvSpPr txBox="1"/>
          <p:nvPr/>
        </p:nvSpPr>
        <p:spPr>
          <a:xfrm>
            <a:off x="3585179" y="2105301"/>
            <a:ext cx="322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latin typeface="APL385 Unicode" panose="020B0709000202000203" pitchFamily="49" charset="0"/>
              </a:rPr>
              <a:t>&amp;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DE4383B-EBE7-5782-3665-4533BBE46B84}"/>
              </a:ext>
            </a:extLst>
          </p:cNvPr>
          <p:cNvSpPr txBox="1"/>
          <p:nvPr/>
        </p:nvSpPr>
        <p:spPr>
          <a:xfrm>
            <a:off x="4740908" y="1638852"/>
            <a:ext cx="322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latin typeface="APL385 Unicode" panose="020B0709000202000203" pitchFamily="49" charset="0"/>
              </a:rPr>
              <a:t>&amp;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E8EBF12-9E3B-A1F3-49CB-5D3B4A1C297C}"/>
              </a:ext>
            </a:extLst>
          </p:cNvPr>
          <p:cNvSpPr/>
          <p:nvPr/>
        </p:nvSpPr>
        <p:spPr>
          <a:xfrm>
            <a:off x="1108231" y="3504648"/>
            <a:ext cx="1530773" cy="419947"/>
          </a:xfrm>
          <a:prstGeom prst="round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$$$ compute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C3976BD-E596-9CF5-A948-E22EE6943475}"/>
              </a:ext>
            </a:extLst>
          </p:cNvPr>
          <p:cNvSpPr/>
          <p:nvPr/>
        </p:nvSpPr>
        <p:spPr>
          <a:xfrm>
            <a:off x="2868084" y="3504647"/>
            <a:ext cx="1530773" cy="41994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$$$ compute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307E003-E802-3F32-EA5A-A009CF1B38C4}"/>
              </a:ext>
            </a:extLst>
          </p:cNvPr>
          <p:cNvSpPr/>
          <p:nvPr/>
        </p:nvSpPr>
        <p:spPr>
          <a:xfrm>
            <a:off x="4717990" y="3504646"/>
            <a:ext cx="1530773" cy="419947"/>
          </a:xfrm>
          <a:prstGeom prst="round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$$$ compute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8364678-BE14-1C45-9303-82B4FD6ABCEF}"/>
              </a:ext>
            </a:extLst>
          </p:cNvPr>
          <p:cNvCxnSpPr/>
          <p:nvPr/>
        </p:nvCxnSpPr>
        <p:spPr>
          <a:xfrm>
            <a:off x="1873617" y="3055266"/>
            <a:ext cx="0" cy="439431"/>
          </a:xfrm>
          <a:prstGeom prst="line">
            <a:avLst/>
          </a:prstGeom>
          <a:ln w="38100">
            <a:solidFill>
              <a:srgbClr val="6C280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0ECED45-0F7A-06B9-A86D-E22305FAACDE}"/>
              </a:ext>
            </a:extLst>
          </p:cNvPr>
          <p:cNvCxnSpPr/>
          <p:nvPr/>
        </p:nvCxnSpPr>
        <p:spPr>
          <a:xfrm>
            <a:off x="3627117" y="3065215"/>
            <a:ext cx="0" cy="439431"/>
          </a:xfrm>
          <a:prstGeom prst="line">
            <a:avLst/>
          </a:prstGeom>
          <a:ln w="38100">
            <a:solidFill>
              <a:srgbClr val="6C280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E8E438E-9010-D5E5-A17B-2D1679410A2F}"/>
              </a:ext>
            </a:extLst>
          </p:cNvPr>
          <p:cNvCxnSpPr/>
          <p:nvPr/>
        </p:nvCxnSpPr>
        <p:spPr>
          <a:xfrm>
            <a:off x="5380617" y="3075164"/>
            <a:ext cx="0" cy="439431"/>
          </a:xfrm>
          <a:prstGeom prst="line">
            <a:avLst/>
          </a:prstGeom>
          <a:ln w="38100">
            <a:solidFill>
              <a:srgbClr val="6C280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477212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A4AA0C3-2819-9E11-69E2-7723C6E9B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27F92AD-A957-43A6-1900-0AF9A42B8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Isolates &amp; Green Threads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3569917-D41C-B47D-3227-82A6127DEA2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EB19C26-7A06-53CD-8AA6-D9E9EA8B2467}"/>
              </a:ext>
            </a:extLst>
          </p:cNvPr>
          <p:cNvSpPr/>
          <p:nvPr/>
        </p:nvSpPr>
        <p:spPr>
          <a:xfrm>
            <a:off x="3061543" y="1180871"/>
            <a:ext cx="1131147" cy="4199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/>
              <a:t>Jarvis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E5A7CBD-88EC-E03F-F303-934F038E2ACF}"/>
              </a:ext>
            </a:extLst>
          </p:cNvPr>
          <p:cNvSpPr/>
          <p:nvPr/>
        </p:nvSpPr>
        <p:spPr>
          <a:xfrm>
            <a:off x="1188720" y="2571750"/>
            <a:ext cx="1330960" cy="483516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/>
              <a:t>request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98170FA-6D10-45B4-3554-F0C3C72B14FB}"/>
              </a:ext>
            </a:extLst>
          </p:cNvPr>
          <p:cNvSpPr/>
          <p:nvPr/>
        </p:nvSpPr>
        <p:spPr>
          <a:xfrm>
            <a:off x="4734558" y="2581699"/>
            <a:ext cx="1330960" cy="483516"/>
          </a:xfrm>
          <a:prstGeom prst="round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/>
              <a:t>request</a:t>
            </a: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C3268792-C08B-F1F3-4D46-B9BB00C672F6}"/>
              </a:ext>
            </a:extLst>
          </p:cNvPr>
          <p:cNvCxnSpPr>
            <a:stCxn id="5" idx="2"/>
            <a:endCxn id="6" idx="0"/>
          </p:cNvCxnSpPr>
          <p:nvPr/>
        </p:nvCxnSpPr>
        <p:spPr>
          <a:xfrm rot="5400000">
            <a:off x="2255193" y="1199825"/>
            <a:ext cx="970933" cy="1772917"/>
          </a:xfrm>
          <a:prstGeom prst="bentConnector3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1484CFA3-47E1-D793-4922-0A8F3D41B4F3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 rot="16200000" flipH="1">
            <a:off x="4023136" y="1204797"/>
            <a:ext cx="980882" cy="1772921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F260F49-E7B1-828E-D812-7FA0DE5EF088}"/>
              </a:ext>
            </a:extLst>
          </p:cNvPr>
          <p:cNvSpPr txBox="1"/>
          <p:nvPr/>
        </p:nvSpPr>
        <p:spPr>
          <a:xfrm>
            <a:off x="2316480" y="1781387"/>
            <a:ext cx="322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latin typeface="APL385 Unicode" panose="020B0709000202000203" pitchFamily="49" charset="0"/>
              </a:rPr>
              <a:t>&amp;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84D128-957F-E267-66B5-64E0D7CC8336}"/>
              </a:ext>
            </a:extLst>
          </p:cNvPr>
          <p:cNvSpPr txBox="1"/>
          <p:nvPr/>
        </p:nvSpPr>
        <p:spPr>
          <a:xfrm>
            <a:off x="4740908" y="1638852"/>
            <a:ext cx="322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latin typeface="APL385 Unicode" panose="020B0709000202000203" pitchFamily="49" charset="0"/>
              </a:rPr>
              <a:t>&amp;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C259C548-A240-8544-B9C1-479BCD790E34}"/>
              </a:ext>
            </a:extLst>
          </p:cNvPr>
          <p:cNvSpPr/>
          <p:nvPr/>
        </p:nvSpPr>
        <p:spPr>
          <a:xfrm>
            <a:off x="1108231" y="3504648"/>
            <a:ext cx="1530773" cy="41994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$$$ compute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B9FCB9D-D2E6-5B3D-1489-E8614E426824}"/>
              </a:ext>
            </a:extLst>
          </p:cNvPr>
          <p:cNvSpPr/>
          <p:nvPr/>
        </p:nvSpPr>
        <p:spPr>
          <a:xfrm>
            <a:off x="4717990" y="3504646"/>
            <a:ext cx="1530773" cy="419947"/>
          </a:xfrm>
          <a:prstGeom prst="round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$$$ compute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1EB40CE-21FB-ADBB-2E9C-5A7788CB8290}"/>
              </a:ext>
            </a:extLst>
          </p:cNvPr>
          <p:cNvCxnSpPr/>
          <p:nvPr/>
        </p:nvCxnSpPr>
        <p:spPr>
          <a:xfrm>
            <a:off x="1873617" y="3055266"/>
            <a:ext cx="0" cy="439431"/>
          </a:xfrm>
          <a:prstGeom prst="line">
            <a:avLst/>
          </a:prstGeom>
          <a:ln w="38100">
            <a:solidFill>
              <a:srgbClr val="6C280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F22AE8B-F5FF-EE25-9477-AAB61C6BB926}"/>
              </a:ext>
            </a:extLst>
          </p:cNvPr>
          <p:cNvCxnSpPr/>
          <p:nvPr/>
        </p:nvCxnSpPr>
        <p:spPr>
          <a:xfrm>
            <a:off x="5380617" y="3075164"/>
            <a:ext cx="0" cy="439431"/>
          </a:xfrm>
          <a:prstGeom prst="line">
            <a:avLst/>
          </a:prstGeom>
          <a:ln w="38100">
            <a:solidFill>
              <a:srgbClr val="6C280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63922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E70D90F-4952-E797-C713-561220AF5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27E565-059B-156C-92E1-BD0D8F61E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Isolates &amp; Green Threads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C67FDC8-3422-4B8B-5BDF-6832EFD546E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A69EE7F-61FF-84B0-9F2E-D1A1E39AC6AB}"/>
              </a:ext>
            </a:extLst>
          </p:cNvPr>
          <p:cNvSpPr/>
          <p:nvPr/>
        </p:nvSpPr>
        <p:spPr>
          <a:xfrm>
            <a:off x="3061543" y="1180871"/>
            <a:ext cx="1131147" cy="4199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/>
              <a:t>Jarvis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D8927BF-9375-1623-A636-FC1781C0CB19}"/>
              </a:ext>
            </a:extLst>
          </p:cNvPr>
          <p:cNvSpPr/>
          <p:nvPr/>
        </p:nvSpPr>
        <p:spPr>
          <a:xfrm>
            <a:off x="4734558" y="2581699"/>
            <a:ext cx="1330960" cy="483516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/>
              <a:t>request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62E8A69-D284-5FE0-F430-FA98409E4C15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 rot="16200000" flipH="1">
            <a:off x="4023136" y="1204797"/>
            <a:ext cx="980882" cy="1772921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5E97F4B9-8F2F-430F-1549-CF91D11385B0}"/>
              </a:ext>
            </a:extLst>
          </p:cNvPr>
          <p:cNvSpPr txBox="1"/>
          <p:nvPr/>
        </p:nvSpPr>
        <p:spPr>
          <a:xfrm>
            <a:off x="4740908" y="1638852"/>
            <a:ext cx="322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latin typeface="APL385 Unicode" panose="020B0709000202000203" pitchFamily="49" charset="0"/>
              </a:rPr>
              <a:t>&amp;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461E6F6-1768-1BDB-A95F-10526BDF66FB}"/>
              </a:ext>
            </a:extLst>
          </p:cNvPr>
          <p:cNvSpPr/>
          <p:nvPr/>
        </p:nvSpPr>
        <p:spPr>
          <a:xfrm>
            <a:off x="4717990" y="3504646"/>
            <a:ext cx="1530773" cy="41994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$$$ compute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67BA7D6-FB16-432F-5F14-5ABA4BF63451}"/>
              </a:ext>
            </a:extLst>
          </p:cNvPr>
          <p:cNvCxnSpPr/>
          <p:nvPr/>
        </p:nvCxnSpPr>
        <p:spPr>
          <a:xfrm>
            <a:off x="5380617" y="3075164"/>
            <a:ext cx="0" cy="439431"/>
          </a:xfrm>
          <a:prstGeom prst="line">
            <a:avLst/>
          </a:prstGeom>
          <a:ln w="38100">
            <a:solidFill>
              <a:srgbClr val="6C280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14965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801C22D-BA3B-BF44-4B47-60EA36DE7A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Functions may have side effects</a:t>
            </a:r>
          </a:p>
          <a:p>
            <a:pPr lvl="1"/>
            <a:r>
              <a:rPr lang="en-GB" dirty="0"/>
              <a:t>Global variables</a:t>
            </a:r>
          </a:p>
          <a:p>
            <a:pPr lvl="1"/>
            <a:r>
              <a:rPr lang="en-GB" dirty="0"/>
              <a:t>File system</a:t>
            </a:r>
          </a:p>
          <a:p>
            <a:pPr lvl="1"/>
            <a:r>
              <a:rPr lang="en-GB" dirty="0"/>
              <a:t>Network</a:t>
            </a:r>
          </a:p>
          <a:p>
            <a:pPr lvl="1"/>
            <a:r>
              <a:rPr lang="en-GB" dirty="0"/>
              <a:t>External interfaces (DLLs, .NET, etc.)</a:t>
            </a:r>
          </a:p>
          <a:p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35A79BC-DFEA-E40B-56DE-754BE527A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Spawn (</a:t>
            </a:r>
            <a:r>
              <a:rPr lang="en-GB" dirty="0">
                <a:latin typeface="APL385 Unicode" panose="020B0709000202000203" pitchFamily="49" charset="0"/>
              </a:rPr>
              <a:t>&amp;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19E7512-6DF3-2340-E1A5-DF32BF54039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10237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1325222-0A12-CC47-816B-461535F75A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Sections of code that handled shared state are called</a:t>
            </a:r>
          </a:p>
          <a:p>
            <a:pPr marL="0" indent="0">
              <a:buNone/>
            </a:pPr>
            <a:r>
              <a:rPr lang="en-GB" i="1" dirty="0"/>
              <a:t>critical sections</a:t>
            </a:r>
            <a:r>
              <a:rPr lang="en-GB" dirty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7A5E2E0-5396-7433-2086-C7B519482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Shared State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896120C-2ABD-5C24-AE3C-4A756D90A4D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C3D63C-55FE-E1CC-C5AC-1907D727C2B2}"/>
              </a:ext>
            </a:extLst>
          </p:cNvPr>
          <p:cNvSpPr txBox="1"/>
          <p:nvPr/>
        </p:nvSpPr>
        <p:spPr>
          <a:xfrm>
            <a:off x="2494549" y="2571750"/>
            <a:ext cx="502919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effectLst/>
                <a:latin typeface="APL385 Unicode" panose="020B0709000202000203" pitchFamily="49" charset="0"/>
              </a:rPr>
              <a:t>[1]</a:t>
            </a:r>
            <a:r>
              <a:rPr lang="en-GB" dirty="0">
                <a:solidFill>
                  <a:srgbClr val="808080"/>
                </a:solidFill>
                <a:effectLst/>
                <a:latin typeface="APL385 Unicode" panose="020B0709000202000203" pitchFamily="49" charset="0"/>
              </a:rPr>
              <a:t> sum</a:t>
            </a:r>
            <a:r>
              <a:rPr lang="en-GB" dirty="0">
                <a:solidFill>
                  <a:srgbClr val="0000FF"/>
                </a:solidFill>
                <a:effectLst/>
                <a:latin typeface="APL385 Unicode" panose="020B0709000202000203" pitchFamily="49" charset="0"/>
              </a:rPr>
              <a:t>←+/</a:t>
            </a:r>
            <a:r>
              <a:rPr lang="en-GB" dirty="0" err="1">
                <a:solidFill>
                  <a:srgbClr val="808080"/>
                </a:solidFill>
                <a:effectLst/>
                <a:latin typeface="APL385 Unicode" panose="020B0709000202000203" pitchFamily="49" charset="0"/>
              </a:rPr>
              <a:t>nums</a:t>
            </a: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[2]</a:t>
            </a:r>
            <a:r>
              <a:rPr lang="en-GB" dirty="0">
                <a:solidFill>
                  <a:srgbClr val="808080"/>
                </a:solidFill>
                <a:latin typeface="APL385 Unicode" panose="020B0709000202000203" pitchFamily="49" charset="0"/>
              </a:rPr>
              <a:t> top</a:t>
            </a:r>
            <a:r>
              <a:rPr lang="en-GB" dirty="0">
                <a:solidFill>
                  <a:srgbClr val="0000FF"/>
                </a:solidFill>
                <a:effectLst/>
                <a:latin typeface="APL385 Unicode" panose="020B0709000202000203" pitchFamily="49" charset="0"/>
              </a:rPr>
              <a:t>←⌈/</a:t>
            </a:r>
            <a:r>
              <a:rPr lang="en-GB" dirty="0" err="1">
                <a:solidFill>
                  <a:srgbClr val="808080"/>
                </a:solidFill>
                <a:effectLst/>
                <a:latin typeface="APL385 Unicode" panose="020B0709000202000203" pitchFamily="49" charset="0"/>
              </a:rPr>
              <a:t>nums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[3]</a:t>
            </a:r>
            <a:r>
              <a:rPr lang="en-GB" dirty="0">
                <a:solidFill>
                  <a:srgbClr val="808080"/>
                </a:solidFill>
                <a:latin typeface="APL385 Unicode" panose="020B0709000202000203" pitchFamily="49" charset="0"/>
              </a:rPr>
              <a:t> </a:t>
            </a:r>
            <a:r>
              <a:rPr lang="en-GB" dirty="0" err="1">
                <a:solidFill>
                  <a:srgbClr val="808080"/>
                </a:solidFill>
                <a:latin typeface="APL385 Unicode" panose="020B0709000202000203" pitchFamily="49" charset="0"/>
              </a:rPr>
              <a:t>new</a:t>
            </a:r>
            <a:r>
              <a:rPr lang="en-GB" dirty="0" err="1">
                <a:solidFill>
                  <a:srgbClr val="0000FF"/>
                </a:solidFill>
                <a:effectLst/>
                <a:latin typeface="APL385 Unicode" panose="020B0709000202000203" pitchFamily="49" charset="0"/>
              </a:rPr>
              <a:t>←</a:t>
            </a:r>
            <a:r>
              <a:rPr lang="en-GB" dirty="0" err="1">
                <a:solidFill>
                  <a:srgbClr val="808080"/>
                </a:solidFill>
                <a:effectLst/>
                <a:latin typeface="APL385 Unicode" panose="020B0709000202000203" pitchFamily="49" charset="0"/>
              </a:rPr>
              <a:t>sum</a:t>
            </a: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808080"/>
                </a:solidFill>
                <a:effectLst/>
                <a:latin typeface="APL385 Unicode" panose="020B0709000202000203" pitchFamily="49" charset="0"/>
              </a:rPr>
              <a:t>top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[4]</a:t>
            </a:r>
            <a:r>
              <a:rPr lang="en-GB" dirty="0">
                <a:solidFill>
                  <a:srgbClr val="80808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GLOBAL</a:t>
            </a:r>
            <a:r>
              <a:rPr lang="en-GB" dirty="0">
                <a:solidFill>
                  <a:srgbClr val="0000FF"/>
                </a:solidFill>
                <a:effectLst/>
                <a:latin typeface="APL385 Unicode" panose="020B0709000202000203" pitchFamily="49" charset="0"/>
              </a:rPr>
              <a:t>⍪←</a:t>
            </a:r>
            <a:r>
              <a:rPr lang="en-GB" dirty="0">
                <a:solidFill>
                  <a:srgbClr val="808080"/>
                </a:solidFill>
                <a:effectLst/>
                <a:latin typeface="APL385 Unicode" panose="020B0709000202000203" pitchFamily="49" charset="0"/>
              </a:rPr>
              <a:t>new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[5]</a:t>
            </a:r>
            <a:r>
              <a:rPr lang="en-GB" dirty="0">
                <a:solidFill>
                  <a:srgbClr val="80808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GLOBAL</a:t>
            </a:r>
            <a:r>
              <a:rPr lang="en-GB" dirty="0">
                <a:solidFill>
                  <a:srgbClr val="0000FF"/>
                </a:solidFill>
                <a:effectLst/>
                <a:latin typeface="APL385 Unicode" panose="020B0709000202000203" pitchFamily="49" charset="0"/>
              </a:rPr>
              <a:t>[;</a:t>
            </a:r>
            <a:r>
              <a:rPr lang="en-GB" dirty="0">
                <a:solidFill>
                  <a:srgbClr val="808080"/>
                </a:solidFill>
                <a:effectLst/>
                <a:latin typeface="APL385 Unicode" panose="020B0709000202000203" pitchFamily="49" charset="0"/>
              </a:rPr>
              <a:t>3</a:t>
            </a:r>
            <a:r>
              <a:rPr lang="en-GB" dirty="0">
                <a:solidFill>
                  <a:srgbClr val="0000FF"/>
                </a:solidFill>
                <a:effectLst/>
                <a:latin typeface="APL385 Unicode" panose="020B0709000202000203" pitchFamily="49" charset="0"/>
              </a:rPr>
              <a:t>]←~</a:t>
            </a: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GLOBAL</a:t>
            </a:r>
            <a:r>
              <a:rPr lang="en-GB" dirty="0">
                <a:solidFill>
                  <a:srgbClr val="0000FF"/>
                </a:solidFill>
                <a:effectLst/>
                <a:latin typeface="APL385 Unicode" panose="020B0709000202000203" pitchFamily="49" charset="0"/>
              </a:rPr>
              <a:t>[;</a:t>
            </a:r>
            <a:r>
              <a:rPr lang="en-GB" dirty="0">
                <a:solidFill>
                  <a:srgbClr val="808080"/>
                </a:solidFill>
                <a:effectLst/>
                <a:latin typeface="APL385 Unicode" panose="020B0709000202000203" pitchFamily="49" charset="0"/>
              </a:rPr>
              <a:t>3</a:t>
            </a:r>
            <a:r>
              <a:rPr lang="en-GB" dirty="0">
                <a:solidFill>
                  <a:srgbClr val="0000FF"/>
                </a:solidFill>
                <a:effectLst/>
                <a:latin typeface="APL385 Unicode" panose="020B0709000202000203" pitchFamily="49" charset="0"/>
              </a:rPr>
              <a:t>]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[6]</a:t>
            </a:r>
            <a:r>
              <a:rPr lang="en-GB" dirty="0">
                <a:solidFill>
                  <a:srgbClr val="808080"/>
                </a:solidFill>
                <a:latin typeface="APL385 Unicode" panose="020B0709000202000203" pitchFamily="49" charset="0"/>
              </a:rPr>
              <a:t> </a:t>
            </a:r>
            <a:r>
              <a:rPr lang="en-GB" dirty="0" err="1">
                <a:solidFill>
                  <a:srgbClr val="808080"/>
                </a:solidFill>
                <a:latin typeface="APL385 Unicode" panose="020B0709000202000203" pitchFamily="49" charset="0"/>
              </a:rPr>
              <a:t>r</a:t>
            </a:r>
            <a:r>
              <a:rPr lang="en-GB" dirty="0" err="1">
                <a:solidFill>
                  <a:srgbClr val="0000FF"/>
                </a:solidFill>
                <a:effectLst/>
                <a:latin typeface="APL385 Unicode" panose="020B0709000202000203" pitchFamily="49" charset="0"/>
              </a:rPr>
              <a:t>←</a:t>
            </a:r>
            <a:r>
              <a:rPr lang="en-GB" dirty="0" err="1">
                <a:solidFill>
                  <a:srgbClr val="008080"/>
                </a:solidFill>
                <a:effectLst/>
                <a:latin typeface="APL385 Unicode" panose="020B0709000202000203" pitchFamily="49" charset="0"/>
              </a:rPr>
              <a:t>'sum</a:t>
            </a:r>
            <a:r>
              <a:rPr lang="en-GB" dirty="0">
                <a:solidFill>
                  <a:srgbClr val="008080"/>
                </a:solidFill>
                <a:effectLst/>
                <a:latin typeface="APL385 Unicode" panose="020B0709000202000203" pitchFamily="49" charset="0"/>
              </a:rPr>
              <a:t>: '</a:t>
            </a:r>
            <a:r>
              <a:rPr lang="en-GB" dirty="0">
                <a:solidFill>
                  <a:srgbClr val="0000FF"/>
                </a:solidFill>
                <a:effectLst/>
                <a:latin typeface="APL385 Unicode" panose="020B0709000202000203" pitchFamily="49" charset="0"/>
              </a:rPr>
              <a:t>,</a:t>
            </a:r>
            <a:r>
              <a:rPr lang="en-GB" dirty="0">
                <a:solidFill>
                  <a:srgbClr val="808080"/>
                </a:solidFill>
                <a:effectLst/>
                <a:latin typeface="APL385 Unicode" panose="020B0709000202000203" pitchFamily="49" charset="0"/>
              </a:rPr>
              <a:t>sum</a:t>
            </a:r>
            <a:r>
              <a:rPr lang="en-GB" dirty="0">
                <a:solidFill>
                  <a:srgbClr val="0000FF"/>
                </a:solidFill>
                <a:effectLst/>
                <a:latin typeface="APL385 Unicode" panose="020B0709000202000203" pitchFamily="49" charset="0"/>
              </a:rPr>
              <a:t>⍕⍛,</a:t>
            </a:r>
            <a:r>
              <a:rPr lang="en-GB" dirty="0">
                <a:solidFill>
                  <a:srgbClr val="008080"/>
                </a:solidFill>
                <a:effectLst/>
                <a:latin typeface="APL385 Unicode" panose="020B0709000202000203" pitchFamily="49" charset="0"/>
              </a:rPr>
              <a:t>'top: '</a:t>
            </a:r>
            <a:r>
              <a:rPr lang="en-GB" dirty="0">
                <a:solidFill>
                  <a:srgbClr val="0000FF"/>
                </a:solidFill>
                <a:effectLst/>
                <a:latin typeface="APL385 Unicode" panose="020B0709000202000203" pitchFamily="49" charset="0"/>
              </a:rPr>
              <a:t>,⍕</a:t>
            </a:r>
            <a:r>
              <a:rPr lang="en-GB" dirty="0">
                <a:solidFill>
                  <a:srgbClr val="808080"/>
                </a:solidFill>
                <a:effectLst/>
                <a:latin typeface="APL385 Unicode" panose="020B0709000202000203" pitchFamily="49" charset="0"/>
              </a:rPr>
              <a:t>top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</a:p>
        </p:txBody>
      </p:sp>
      <p:sp>
        <p:nvSpPr>
          <p:cNvPr id="6" name="Left Bracket 5">
            <a:extLst>
              <a:ext uri="{FF2B5EF4-FFF2-40B4-BE49-F238E27FC236}">
                <a16:creationId xmlns:a16="http://schemas.microsoft.com/office/drawing/2014/main" id="{02977A1E-0405-DC79-E70A-1A6EEE34D73E}"/>
              </a:ext>
            </a:extLst>
          </p:cNvPr>
          <p:cNvSpPr/>
          <p:nvPr/>
        </p:nvSpPr>
        <p:spPr>
          <a:xfrm>
            <a:off x="2422359" y="3558339"/>
            <a:ext cx="144380" cy="304800"/>
          </a:xfrm>
          <a:prstGeom prst="leftBracket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9410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98556-BEDB-9DC1-95BC-CF5E1E2EF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3FEBB67-7BF8-6407-DB37-7AD2A28467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Block other threads using one or more character "tokens"</a:t>
            </a:r>
          </a:p>
          <a:p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476C782-6A1A-AED8-0DE8-4057EBA6A9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PL385 Unicode" panose="020B0709000202000203" pitchFamily="49" charset="0"/>
              </a:rPr>
              <a:t>:Hold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FB8BB10-38B5-4FA6-565F-9E7F5D4E1D1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377126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4A66B3-D3D7-CCF8-1958-9DD3F7B815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AE505F6-5337-003D-9BBC-3F45CBC6B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F89B9F1-209B-6B7F-868A-B8EC12D028F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DD85595-64A4-A312-2851-0C954C7695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8608" y="1130216"/>
            <a:ext cx="4500000" cy="314183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712C157-1337-01DD-F20F-D0AB63EC93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30216"/>
            <a:ext cx="4500000" cy="3141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7823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003DF-C25C-EE75-9129-8A5E069DB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6253EEF-D63C-F6D6-F0CC-7E3EC56463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DF5F3B-D22E-7B5C-BF0C-A46D2ADDF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394F925-6C20-06D0-CA99-781F2AEC4FE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F3C2D61-BF9E-C827-A23E-404E0BBE8BE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58608" y="1130216"/>
            <a:ext cx="4500000" cy="314183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352CB1B-6DFA-9D41-D9D5-79BDF66CE4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30216"/>
            <a:ext cx="4500000" cy="3141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1683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365AA-8FF6-C080-3E60-14BFD97B1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3DEBBC9-A9C0-5339-5B53-0FED80AD4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B9137BB-2D22-8FFD-3D65-A0E80DDF4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55BD781-C903-0A01-7F33-899DBF1D0E6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77159A8-B53B-BD21-BD1B-9BB6D66B4DB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58608" y="1130216"/>
            <a:ext cx="4500000" cy="314183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F076AA6-7DF0-B925-5F21-5A81B56C6C4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130216"/>
            <a:ext cx="4500000" cy="3141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441544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8941B-83A8-6213-EB38-795D1DA7E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3706210-B70E-2662-2E03-73046BAB79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1446067-3039-BB0F-DE51-ACD79A611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7364252-3124-308D-02FC-B91DAB57449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360C154-9744-D8F9-51B4-3E42B525512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58608" y="1130216"/>
            <a:ext cx="4499999" cy="314183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01609F1-4F64-329A-FA8E-0A266E2F2D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26" y="1130216"/>
            <a:ext cx="4493548" cy="3141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11185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A2124-1F91-1181-5A7C-8C05C584ED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75597B4-CD26-5EC4-F01D-26F94787F2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432587D-30EC-5241-1B58-4D8173E8E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F340426-A656-7A5D-53CA-C3027253CC2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8E61B1E-8AC3-5AEA-4E48-393953BD374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58608" y="1130216"/>
            <a:ext cx="4499999" cy="31418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F0BE312-5583-55EC-EBA4-DA09809560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30216"/>
            <a:ext cx="4500000" cy="3141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119719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B6E45-E75A-8150-F82D-B76DC76AF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B84C1C-A0E3-E145-89F4-30CF3DACFE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1BBB0DB-7953-24FD-D5D0-AD19FFB4B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AB76AC3-F1AA-64EF-EAF4-CC3ECD7A71E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5EA95FF-5AD8-6429-0CCE-22B6E234160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58608" y="1130216"/>
            <a:ext cx="4499999" cy="31418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7F10767-B8E3-D1F2-70BF-5EF1DC543E0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130216"/>
            <a:ext cx="4500000" cy="3141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909956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37987-B4FD-DB90-7E08-66C7CDE0D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CDD857D-8E70-BF33-C349-CA25797B97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EEB0B50-1A1C-7A82-7F47-9A0EA5F93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EE2AFE3-56F7-B19F-21B3-92C57EFF43E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6EA0D92-D827-C862-CADF-8A003380668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58608" y="1130216"/>
            <a:ext cx="4499999" cy="31418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17227B1-565F-997A-4F6A-F3F82E7527B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130216"/>
            <a:ext cx="4499999" cy="3141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20341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94450-C72F-F2ED-6107-670387A31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546561-A28D-38B7-0A5B-2F137A4E10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194CCDE-D9BB-39C9-0A37-2185194B9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99E7CAB-3160-1D95-7FDE-E2FF0C9FCB8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8DD485C-457F-6D98-C17F-A4888C37B83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58608" y="1130216"/>
            <a:ext cx="4499999" cy="31418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C644D7F-CDA9-85B6-E11B-608BAE99D81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130216"/>
            <a:ext cx="4499999" cy="3141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13736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6371FEA-9690-3C93-4C3D-62C4E3ABD0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>
                <a:latin typeface="APL385 Unicode" panose="020B0709000202000203" pitchFamily="49" charset="0"/>
              </a:rPr>
              <a:t>⎕TNUMS</a:t>
            </a:r>
            <a:r>
              <a:rPr lang="en-GB" dirty="0"/>
              <a:t> 		running threads</a:t>
            </a:r>
          </a:p>
          <a:p>
            <a:r>
              <a:rPr lang="en-GB" dirty="0">
                <a:latin typeface="APL385 Unicode" panose="020B0709000202000203" pitchFamily="49" charset="0"/>
              </a:rPr>
              <a:t>⎕TID</a:t>
            </a:r>
            <a:r>
              <a:rPr lang="en-GB" dirty="0"/>
              <a:t> 		this thread</a:t>
            </a:r>
          </a:p>
          <a:p>
            <a:r>
              <a:rPr lang="en-GB" dirty="0">
                <a:latin typeface="APL385 Unicode" panose="020B0709000202000203" pitchFamily="49" charset="0"/>
              </a:rPr>
              <a:t>⎕TCNUMS </a:t>
            </a:r>
            <a:r>
              <a:rPr lang="en-GB" dirty="0"/>
              <a:t>	children of this thread</a:t>
            </a:r>
          </a:p>
          <a:p>
            <a:r>
              <a:rPr lang="en-GB" dirty="0">
                <a:latin typeface="APL385 Unicode" panose="020B0709000202000203" pitchFamily="49" charset="0"/>
              </a:rPr>
              <a:t>⎕TKILL </a:t>
            </a:r>
            <a:r>
              <a:rPr lang="en-GB" dirty="0"/>
              <a:t>		guess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11055B0-3DE9-5F33-A5E7-EAEF4F039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Thread Management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D3EF291-B1EB-3A84-4AD3-AF601199113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222091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D88BC-147F-6B80-2D52-F37B6DD5D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2B2098-5528-CF45-A0BE-E0548A8B7B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264925"/>
            <a:ext cx="8522158" cy="32420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Single lines of primitives will not switch threads (inc. </a:t>
            </a:r>
            <a:r>
              <a:rPr lang="en-GB" dirty="0">
                <a:latin typeface="APL385 Unicode" panose="020B0709000202000203" pitchFamily="49" charset="0"/>
              </a:rPr>
              <a:t>⋄</a:t>
            </a:r>
            <a:r>
              <a:rPr lang="en-GB" dirty="0"/>
              <a:t>)</a:t>
            </a:r>
          </a:p>
          <a:p>
            <a:pPr marL="0" indent="0">
              <a:buNone/>
            </a:pPr>
            <a:r>
              <a:rPr lang="en-GB" dirty="0"/>
              <a:t>Thread switch points include:</a:t>
            </a:r>
          </a:p>
          <a:p>
            <a:r>
              <a:rPr lang="en-GB" dirty="0"/>
              <a:t>between lines of code</a:t>
            </a:r>
          </a:p>
          <a:p>
            <a:r>
              <a:rPr lang="en-GB" dirty="0"/>
              <a:t>on entry to </a:t>
            </a:r>
            <a:r>
              <a:rPr lang="en-GB" dirty="0" err="1"/>
              <a:t>dfn</a:t>
            </a:r>
            <a:r>
              <a:rPr lang="en-GB" dirty="0"/>
              <a:t> or dop</a:t>
            </a:r>
          </a:p>
          <a:p>
            <a:r>
              <a:rPr lang="en-GB" dirty="0"/>
              <a:t>awaiting completion of an external operation</a:t>
            </a:r>
          </a:p>
          <a:p>
            <a:pPr marL="0" indent="0">
              <a:buNone/>
            </a:pPr>
            <a:r>
              <a:rPr lang="en-GB" dirty="0"/>
              <a:t>Search "Dyalog thread switching" online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03452E3-4BF4-16D3-61C3-28BF06701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Thread Switching</a:t>
            </a:r>
          </a:p>
        </p:txBody>
      </p:sp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D7EA8192-CAF7-C672-746B-3E2CEB581DB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37179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2DA65-9867-89D2-F6A5-EB78F4A89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EBCBE25-2EB5-70B3-026B-D4214720FB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Risks:</a:t>
            </a:r>
          </a:p>
          <a:p>
            <a:r>
              <a:rPr lang="en-GB" dirty="0"/>
              <a:t>Clobbering ("atomicity violation", lost updates)</a:t>
            </a:r>
          </a:p>
          <a:p>
            <a:r>
              <a:rPr lang="en-GB" dirty="0"/>
              <a:t>Order violation</a:t>
            </a:r>
          </a:p>
          <a:p>
            <a:r>
              <a:rPr lang="en-GB" dirty="0"/>
              <a:t>Deadlock</a:t>
            </a:r>
          </a:p>
          <a:p>
            <a:r>
              <a:rPr lang="en-GB" dirty="0" err="1"/>
              <a:t>Livelock</a:t>
            </a:r>
            <a:endParaRPr lang="en-GB" dirty="0"/>
          </a:p>
          <a:p>
            <a:r>
              <a:rPr lang="en-GB" dirty="0"/>
              <a:t>Thread starvation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88201A9-6FC7-54EA-817F-5F4EEB510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Shared State &amp; Holds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E4CD584-3603-799E-F364-642D96D7589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80803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261915D-5FD3-0A0D-AD4F-925AD1A65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5F03A2E-C5B2-7BA7-C558-87AC0F7B658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5A649E-53FA-8B7D-B63E-66EE762EC64A}"/>
              </a:ext>
            </a:extLst>
          </p:cNvPr>
          <p:cNvSpPr txBox="1"/>
          <p:nvPr/>
        </p:nvSpPr>
        <p:spPr>
          <a:xfrm>
            <a:off x="2911129" y="2294751"/>
            <a:ext cx="332174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000" dirty="0"/>
              <a:t>Thread Safety Quiz</a:t>
            </a:r>
          </a:p>
        </p:txBody>
      </p:sp>
    </p:spTree>
    <p:extLst>
      <p:ext uri="{BB962C8B-B14F-4D97-AF65-F5344CB8AC3E}">
        <p14:creationId xmlns:p14="http://schemas.microsoft.com/office/powerpoint/2010/main" val="394046683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1E949C3-3870-3B70-E4FD-EEA5819B6F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Global variables</a:t>
            </a:r>
          </a:p>
          <a:p>
            <a:r>
              <a:rPr lang="en-GB" dirty="0"/>
              <a:t>External resources</a:t>
            </a:r>
          </a:p>
          <a:p>
            <a:r>
              <a:rPr lang="en-GB" dirty="0"/>
              <a:t>Token pool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DAD0C29-54C2-57A8-BE06-A0DDAE9AF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Sharing Between Threads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020F3B2-C844-7E02-7324-9ED611D56E6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41533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1536549-E04D-F09E-9E6C-9C0137B0D9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Atomic Updates</a:t>
            </a:r>
          </a:p>
          <a:p>
            <a:pPr lvl="1"/>
            <a:r>
              <a:rPr lang="en-GB" dirty="0"/>
              <a:t>One-line assignments</a:t>
            </a:r>
          </a:p>
          <a:p>
            <a:pPr lvl="1"/>
            <a:r>
              <a:rPr lang="en-GB" dirty="0"/>
              <a:t>Copy-on-write (snapshot)</a:t>
            </a:r>
          </a:p>
          <a:p>
            <a:r>
              <a:rPr lang="en-GB" dirty="0"/>
              <a:t>Mutual exclusion (mutex) (</a:t>
            </a:r>
            <a:r>
              <a:rPr lang="en-GB" dirty="0">
                <a:latin typeface="APL385 Unicode" panose="020B0709000202000203" pitchFamily="49" charset="0"/>
              </a:rPr>
              <a:t>:Hold</a:t>
            </a:r>
            <a:r>
              <a:rPr lang="en-GB" dirty="0"/>
              <a:t>)</a:t>
            </a:r>
          </a:p>
          <a:p>
            <a:r>
              <a:rPr lang="en-GB" dirty="0"/>
              <a:t>Various (</a:t>
            </a:r>
            <a:r>
              <a:rPr lang="en-GB" dirty="0">
                <a:latin typeface="APL385 Unicode" panose="020B0709000202000203" pitchFamily="49" charset="0"/>
              </a:rPr>
              <a:t>⎕TPUT</a:t>
            </a:r>
            <a:r>
              <a:rPr lang="en-GB" dirty="0"/>
              <a:t>/</a:t>
            </a:r>
            <a:r>
              <a:rPr lang="en-GB" dirty="0">
                <a:latin typeface="APL385 Unicode" panose="020B0709000202000203" pitchFamily="49" charset="0"/>
              </a:rPr>
              <a:t>⎕TGET</a:t>
            </a:r>
            <a:r>
              <a:rPr lang="en-GB" dirty="0"/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C2A1081-5806-F1C2-DF9B-99B18E03B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Synchronisation Strategies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B1C7956-D789-DDDA-5059-6DE456D551B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783558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72B8D62-EF62-980F-D1F7-18F18AE7BB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6" y="1488989"/>
            <a:ext cx="3895547" cy="3017976"/>
          </a:xfrm>
        </p:spPr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∇ Update</a:t>
            </a:r>
            <a:b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 </a:t>
            </a:r>
            <a:r>
              <a:rPr lang="en-GB" dirty="0" err="1">
                <a:solidFill>
                  <a:srgbClr val="808080"/>
                </a:solidFill>
                <a:effectLst/>
                <a:latin typeface="APL385 Unicode" panose="020B0709000202000203" pitchFamily="49" charset="0"/>
              </a:rPr>
              <a:t>snapshot</a:t>
            </a:r>
            <a:r>
              <a:rPr lang="en-GB" dirty="0" err="1">
                <a:solidFill>
                  <a:srgbClr val="0000FF"/>
                </a:solidFill>
                <a:effectLst/>
                <a:latin typeface="APL385 Unicode" panose="020B0709000202000203" pitchFamily="49" charset="0"/>
              </a:rPr>
              <a:t>←</a:t>
            </a:r>
            <a:r>
              <a:rPr lang="en-GB" dirty="0" err="1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STATE</a:t>
            </a:r>
            <a:b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 </a:t>
            </a:r>
            <a:r>
              <a:rPr lang="en-GB" dirty="0">
                <a:solidFill>
                  <a:srgbClr val="808080"/>
                </a:solidFill>
                <a:effectLst/>
                <a:latin typeface="APL385 Unicode" panose="020B0709000202000203" pitchFamily="49" charset="0"/>
              </a:rPr>
              <a:t>… modify snapshot</a:t>
            </a:r>
            <a:b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 </a:t>
            </a:r>
            <a:r>
              <a:rPr lang="en-GB" dirty="0" err="1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STATE</a:t>
            </a:r>
            <a:r>
              <a:rPr lang="en-GB" dirty="0" err="1">
                <a:solidFill>
                  <a:srgbClr val="0000FF"/>
                </a:solidFill>
                <a:effectLst/>
                <a:latin typeface="APL385 Unicode" panose="020B0709000202000203" pitchFamily="49" charset="0"/>
              </a:rPr>
              <a:t>←</a:t>
            </a:r>
            <a:r>
              <a:rPr lang="en-GB" dirty="0" err="1">
                <a:solidFill>
                  <a:srgbClr val="808080"/>
                </a:solidFill>
                <a:effectLst/>
                <a:latin typeface="APL385 Unicode" panose="020B0709000202000203" pitchFamily="49" charset="0"/>
              </a:rPr>
              <a:t>snapshot</a:t>
            </a:r>
            <a:b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∇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187955C-AE3B-1D46-17D1-20C270EAC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Synchronisation Strategies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F6D5D1D-FEC7-6AEF-788B-538D515535D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018C0420-102C-6213-FA3D-E8C8D25658D8}"/>
              </a:ext>
            </a:extLst>
          </p:cNvPr>
          <p:cNvSpPr txBox="1">
            <a:spLocks/>
          </p:cNvSpPr>
          <p:nvPr/>
        </p:nvSpPr>
        <p:spPr>
          <a:xfrm>
            <a:off x="5008050" y="1488989"/>
            <a:ext cx="3646894" cy="30179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A13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A13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A13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GB" dirty="0">
                <a:solidFill>
                  <a:srgbClr val="000000"/>
                </a:solidFill>
                <a:latin typeface="APL385 Unicode" panose="020B0709000202000203" pitchFamily="49" charset="0"/>
              </a:rPr>
              <a:t>∇ Read</a:t>
            </a:r>
            <a:br>
              <a:rPr lang="en-GB" dirty="0">
                <a:solidFill>
                  <a:srgbClr val="000000"/>
                </a:solidFill>
                <a:latin typeface="APL385 Unicode" panose="020B0709000202000203" pitchFamily="49" charset="0"/>
              </a:rPr>
            </a:br>
            <a:r>
              <a:rPr lang="en-GB" dirty="0" err="1">
                <a:solidFill>
                  <a:srgbClr val="808080"/>
                </a:solidFill>
                <a:latin typeface="APL385 Unicode" panose="020B0709000202000203" pitchFamily="49" charset="0"/>
              </a:rPr>
              <a:t>snapshot</a:t>
            </a:r>
            <a:r>
              <a:rPr lang="en-GB" dirty="0" err="1">
                <a:solidFill>
                  <a:srgbClr val="0000FF"/>
                </a:solidFill>
                <a:latin typeface="APL385 Unicode" panose="020B0709000202000203" pitchFamily="49" charset="0"/>
              </a:rPr>
              <a:t>←</a:t>
            </a:r>
            <a:r>
              <a:rPr lang="en-GB" dirty="0" err="1">
                <a:solidFill>
                  <a:srgbClr val="000000"/>
                </a:solidFill>
                <a:latin typeface="APL385 Unicode" panose="020B0709000202000203" pitchFamily="49" charset="0"/>
              </a:rPr>
              <a:t>STATE</a:t>
            </a:r>
            <a:br>
              <a:rPr lang="en-GB" dirty="0">
                <a:solidFill>
                  <a:srgbClr val="000000"/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808080"/>
                </a:solidFill>
                <a:latin typeface="APL385 Unicode" panose="020B0709000202000203" pitchFamily="49" charset="0"/>
              </a:rPr>
              <a:t>… use snapshot</a:t>
            </a:r>
            <a:br>
              <a:rPr lang="en-GB" dirty="0">
                <a:solidFill>
                  <a:srgbClr val="000000"/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000000"/>
                </a:solidFill>
                <a:latin typeface="APL385 Unicode" panose="020B0709000202000203" pitchFamily="49" charset="0"/>
              </a:rPr>
              <a:t>∇</a:t>
            </a:r>
            <a:br>
              <a:rPr lang="en-GB" dirty="0">
                <a:solidFill>
                  <a:srgbClr val="000000"/>
                </a:solidFill>
                <a:latin typeface="APL385 Unicode" panose="020B0709000202000203" pitchFamily="49" charset="0"/>
              </a:rPr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1070612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89D9B-0C02-F117-B17A-5D51B9F1A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1BFCE45-5153-1D36-B751-41D7195140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6" y="1488989"/>
            <a:ext cx="4601400" cy="3017976"/>
          </a:xfrm>
        </p:spPr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∇ Update</a:t>
            </a:r>
          </a:p>
          <a:p>
            <a:pPr marL="0" indent="0">
              <a:buNone/>
            </a:pPr>
            <a:r>
              <a:rPr lang="en-GB" dirty="0">
                <a:solidFill>
                  <a:srgbClr val="000000"/>
                </a:solidFill>
                <a:latin typeface="APL385 Unicode" panose="020B0709000202000203" pitchFamily="49" charset="0"/>
              </a:rPr>
              <a:t>  </a:t>
            </a:r>
            <a:r>
              <a:rPr lang="en-GB" dirty="0">
                <a:solidFill>
                  <a:srgbClr val="800000"/>
                </a:solidFill>
                <a:effectLst/>
                <a:latin typeface="APL385 Unicode" panose="020B0709000202000203" pitchFamily="49" charset="0"/>
              </a:rPr>
              <a:t>:Hold</a:t>
            </a: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8080"/>
                </a:solidFill>
                <a:effectLst/>
                <a:latin typeface="APL385 Unicode" panose="020B0709000202000203" pitchFamily="49" charset="0"/>
              </a:rPr>
              <a:t>'STATE'</a:t>
            </a:r>
            <a:b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     </a:t>
            </a:r>
            <a:r>
              <a:rPr lang="en-GB" dirty="0" err="1">
                <a:solidFill>
                  <a:srgbClr val="808080"/>
                </a:solidFill>
                <a:effectLst/>
                <a:latin typeface="APL385 Unicode" panose="020B0709000202000203" pitchFamily="49" charset="0"/>
              </a:rPr>
              <a:t>snapshot</a:t>
            </a:r>
            <a:r>
              <a:rPr lang="en-GB" dirty="0" err="1">
                <a:solidFill>
                  <a:srgbClr val="0000FF"/>
                </a:solidFill>
                <a:effectLst/>
                <a:latin typeface="APL385 Unicode" panose="020B0709000202000203" pitchFamily="49" charset="0"/>
              </a:rPr>
              <a:t>←</a:t>
            </a:r>
            <a:r>
              <a:rPr lang="en-GB" dirty="0" err="1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STATE</a:t>
            </a:r>
            <a:b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808080"/>
                </a:solidFill>
                <a:effectLst/>
                <a:latin typeface="APL385 Unicode" panose="020B0709000202000203" pitchFamily="49" charset="0"/>
              </a:rPr>
              <a:t>… modify snapshot</a:t>
            </a:r>
            <a:b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     </a:t>
            </a:r>
            <a:r>
              <a:rPr lang="en-GB" dirty="0" err="1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STATE</a:t>
            </a:r>
            <a:r>
              <a:rPr lang="en-GB" dirty="0" err="1">
                <a:solidFill>
                  <a:srgbClr val="0000FF"/>
                </a:solidFill>
                <a:effectLst/>
                <a:latin typeface="APL385 Unicode" panose="020B0709000202000203" pitchFamily="49" charset="0"/>
              </a:rPr>
              <a:t>←</a:t>
            </a:r>
            <a:r>
              <a:rPr lang="en-GB" dirty="0" err="1">
                <a:solidFill>
                  <a:srgbClr val="808080"/>
                </a:solidFill>
                <a:effectLst/>
                <a:latin typeface="APL385 Unicode" panose="020B0709000202000203" pitchFamily="49" charset="0"/>
              </a:rPr>
              <a:t>snapshot</a:t>
            </a:r>
            <a:br>
              <a:rPr lang="en-GB" dirty="0">
                <a:solidFill>
                  <a:srgbClr val="808080"/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808080"/>
                </a:solidFill>
                <a:latin typeface="APL385 Unicode" panose="020B0709000202000203" pitchFamily="49" charset="0"/>
              </a:rPr>
              <a:t>  </a:t>
            </a:r>
            <a:r>
              <a:rPr lang="en-GB" dirty="0">
                <a:solidFill>
                  <a:srgbClr val="800000"/>
                </a:solidFill>
                <a:latin typeface="APL385 Unicode" panose="020B0709000202000203" pitchFamily="49" charset="0"/>
              </a:rPr>
              <a:t>:</a:t>
            </a:r>
            <a:r>
              <a:rPr lang="en-GB" dirty="0" err="1">
                <a:solidFill>
                  <a:srgbClr val="800000"/>
                </a:solidFill>
                <a:latin typeface="APL385 Unicode" panose="020B0709000202000203" pitchFamily="49" charset="0"/>
              </a:rPr>
              <a:t>EndHold</a:t>
            </a:r>
            <a:b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∇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06C7D38-3575-BE63-530C-21CAD5796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Synchronisation Strategies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97078D2-07A6-B470-57B7-35B0D547EF7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CCA8C520-42D9-3B04-6A72-2115385626FA}"/>
              </a:ext>
            </a:extLst>
          </p:cNvPr>
          <p:cNvSpPr txBox="1">
            <a:spLocks/>
          </p:cNvSpPr>
          <p:nvPr/>
        </p:nvSpPr>
        <p:spPr>
          <a:xfrm>
            <a:off x="5008050" y="1488989"/>
            <a:ext cx="3646894" cy="30179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A13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A13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A13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GB" dirty="0">
                <a:solidFill>
                  <a:srgbClr val="000000"/>
                </a:solidFill>
                <a:latin typeface="APL385 Unicode" panose="020B0709000202000203" pitchFamily="49" charset="0"/>
              </a:rPr>
              <a:t>∇ Read</a:t>
            </a:r>
            <a:br>
              <a:rPr lang="en-GB" dirty="0">
                <a:solidFill>
                  <a:srgbClr val="000000"/>
                </a:solidFill>
                <a:latin typeface="APL385 Unicode" panose="020B0709000202000203" pitchFamily="49" charset="0"/>
              </a:rPr>
            </a:br>
            <a:r>
              <a:rPr lang="en-GB" dirty="0" err="1">
                <a:solidFill>
                  <a:srgbClr val="808080"/>
                </a:solidFill>
                <a:latin typeface="APL385 Unicode" panose="020B0709000202000203" pitchFamily="49" charset="0"/>
              </a:rPr>
              <a:t>snapshot</a:t>
            </a:r>
            <a:r>
              <a:rPr lang="en-GB" dirty="0" err="1">
                <a:solidFill>
                  <a:srgbClr val="0000FF"/>
                </a:solidFill>
                <a:latin typeface="APL385 Unicode" panose="020B0709000202000203" pitchFamily="49" charset="0"/>
              </a:rPr>
              <a:t>←</a:t>
            </a:r>
            <a:r>
              <a:rPr lang="en-GB" dirty="0" err="1">
                <a:solidFill>
                  <a:srgbClr val="000000"/>
                </a:solidFill>
                <a:latin typeface="APL385 Unicode" panose="020B0709000202000203" pitchFamily="49" charset="0"/>
              </a:rPr>
              <a:t>STATE</a:t>
            </a:r>
            <a:br>
              <a:rPr lang="en-GB" dirty="0">
                <a:solidFill>
                  <a:srgbClr val="000000"/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808080"/>
                </a:solidFill>
                <a:latin typeface="APL385 Unicode" panose="020B0709000202000203" pitchFamily="49" charset="0"/>
              </a:rPr>
              <a:t>… use snapshot</a:t>
            </a:r>
            <a:br>
              <a:rPr lang="en-GB" dirty="0">
                <a:solidFill>
                  <a:srgbClr val="000000"/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000000"/>
                </a:solidFill>
                <a:latin typeface="APL385 Unicode" panose="020B0709000202000203" pitchFamily="49" charset="0"/>
              </a:rPr>
              <a:t>∇</a:t>
            </a:r>
            <a:br>
              <a:rPr lang="en-GB" dirty="0">
                <a:solidFill>
                  <a:srgbClr val="000000"/>
                </a:solidFill>
                <a:latin typeface="APL385 Unicode" panose="020B0709000202000203" pitchFamily="49" charset="0"/>
              </a:rPr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0137393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Word"/>
      </p:transition>
    </mc:Choice>
    <mc:Fallback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BDF37E-10FC-A9D4-6BED-900534EE18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6" y="1488989"/>
            <a:ext cx="8631547" cy="3017976"/>
          </a:xfrm>
        </p:spPr>
        <p:txBody>
          <a:bodyPr numCol="1"/>
          <a:lstStyle/>
          <a:p>
            <a:r>
              <a:rPr lang="en-GB" dirty="0">
                <a:latin typeface="APL385 Unicode" panose="020B0709000202000203" pitchFamily="49" charset="0"/>
              </a:rPr>
              <a:t>⎕TALLOC </a:t>
            </a:r>
            <a:r>
              <a:rPr lang="en-GB" dirty="0"/>
              <a:t>	Reserve token range</a:t>
            </a:r>
          </a:p>
          <a:p>
            <a:r>
              <a:rPr lang="en-GB" dirty="0">
                <a:latin typeface="APL385 Unicode" panose="020B0709000202000203" pitchFamily="49" charset="0"/>
              </a:rPr>
              <a:t>⎕TPUT</a:t>
            </a:r>
            <a:r>
              <a:rPr lang="en-GB" dirty="0"/>
              <a:t>		Put token in the pool</a:t>
            </a:r>
          </a:p>
          <a:p>
            <a:r>
              <a:rPr lang="en-GB" dirty="0">
                <a:latin typeface="APL385 Unicode" panose="020B0709000202000203" pitchFamily="49" charset="0"/>
              </a:rPr>
              <a:t>⎕TGET </a:t>
            </a:r>
            <a:r>
              <a:rPr lang="en-GB" dirty="0"/>
              <a:t>		Request token from the pool</a:t>
            </a:r>
          </a:p>
          <a:p>
            <a:r>
              <a:rPr lang="en-GB" dirty="0">
                <a:latin typeface="APL385 Unicode" panose="020B0709000202000203" pitchFamily="49" charset="0"/>
              </a:rPr>
              <a:t>⎕TPOOL </a:t>
            </a:r>
            <a:r>
              <a:rPr lang="en-GB" dirty="0"/>
              <a:t>		Inspect token pool</a:t>
            </a:r>
          </a:p>
          <a:p>
            <a:r>
              <a:rPr lang="en-GB" dirty="0">
                <a:latin typeface="APL385 Unicode" panose="020B0709000202000203" pitchFamily="49" charset="0"/>
              </a:rPr>
              <a:t>⎕TREQ </a:t>
            </a:r>
            <a:r>
              <a:rPr lang="en-GB" dirty="0"/>
              <a:t>		Which tokens requested by thread TID?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85DA718-AC1F-0CDB-4D89-B0CBFD004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Token Pool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64949D8-B10F-A71D-9867-28A625E2BF3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970648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517971B-5568-5C53-61C4-93187B2D63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488989"/>
            <a:ext cx="2924999" cy="3017976"/>
          </a:xfrm>
        </p:spPr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∇ </a:t>
            </a:r>
            <a:r>
              <a:rPr lang="en-GB" dirty="0" err="1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AddJob</a:t>
            </a: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808080"/>
                </a:solidFill>
                <a:effectLst/>
                <a:latin typeface="APL385 Unicode" panose="020B0709000202000203" pitchFamily="49" charset="0"/>
              </a:rPr>
              <a:t>job</a:t>
            </a:r>
            <a:br>
              <a:rPr lang="en-GB" dirty="0">
                <a:effectLst/>
                <a:latin typeface="APL385 Unicode" panose="020B0709000202000203" pitchFamily="49" charset="0"/>
              </a:rPr>
            </a:br>
            <a:r>
              <a:rPr lang="en-GB" dirty="0">
                <a:effectLst/>
                <a:latin typeface="APL385 Unicode" panose="020B0709000202000203" pitchFamily="49" charset="0"/>
              </a:rPr>
              <a:t>  </a:t>
            </a:r>
            <a:r>
              <a:rPr lang="en-GB" dirty="0" err="1">
                <a:solidFill>
                  <a:srgbClr val="808080"/>
                </a:solidFill>
                <a:effectLst/>
                <a:latin typeface="APL385 Unicode" panose="020B0709000202000203" pitchFamily="49" charset="0"/>
              </a:rPr>
              <a:t>job</a:t>
            </a: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0080"/>
                </a:solidFill>
                <a:effectLst/>
                <a:latin typeface="APL385 Unicode" panose="020B0709000202000203" pitchFamily="49" charset="0"/>
              </a:rPr>
              <a:t>⎕TPUT</a:t>
            </a: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TOK</a:t>
            </a:r>
            <a:r>
              <a:rPr lang="en-GB" dirty="0">
                <a:latin typeface="Courier New" panose="02070309020205020404" pitchFamily="49" charset="0"/>
              </a:rPr>
              <a:t> </a:t>
            </a:r>
            <a:br>
              <a:rPr lang="en-GB" dirty="0">
                <a:latin typeface="Courier New" panose="02070309020205020404" pitchFamily="49" charset="0"/>
              </a:rPr>
            </a:br>
            <a:r>
              <a:rPr lang="en-GB" dirty="0">
                <a:solidFill>
                  <a:srgbClr val="000000"/>
                </a:solidFill>
                <a:latin typeface="APL385 Unicode" panose="020B0709000202000203" pitchFamily="49" charset="0"/>
              </a:rPr>
              <a:t>∇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EBBAF41-BD5F-25FD-30A3-12792FC7A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Queue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28BAB24-A253-08E5-7DA5-6587CD9092F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EC314D1D-9A27-11D4-6547-C0DB9A424132}"/>
              </a:ext>
            </a:extLst>
          </p:cNvPr>
          <p:cNvSpPr txBox="1">
            <a:spLocks/>
          </p:cNvSpPr>
          <p:nvPr/>
        </p:nvSpPr>
        <p:spPr>
          <a:xfrm>
            <a:off x="3764559" y="1488989"/>
            <a:ext cx="4432957" cy="30179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A13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A13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A13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GB" dirty="0">
                <a:solidFill>
                  <a:srgbClr val="000000"/>
                </a:solidFill>
                <a:latin typeface="APL385 Unicode" panose="020B0709000202000203" pitchFamily="49" charset="0"/>
              </a:rPr>
              <a:t>∇ </a:t>
            </a:r>
            <a:r>
              <a:rPr lang="en-GB" dirty="0" err="1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ProcessQueue</a:t>
            </a: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</a:t>
            </a:r>
            <a:r>
              <a:rPr lang="en-GB" dirty="0" err="1">
                <a:solidFill>
                  <a:srgbClr val="808080"/>
                </a:solidFill>
                <a:effectLst/>
                <a:latin typeface="APL385 Unicode" panose="020B0709000202000203" pitchFamily="49" charset="0"/>
              </a:rPr>
              <a:t>arg</a:t>
            </a:r>
            <a:r>
              <a:rPr lang="en-GB" dirty="0" err="1">
                <a:solidFill>
                  <a:srgbClr val="0000FF"/>
                </a:solidFill>
                <a:effectLst/>
                <a:latin typeface="APL385 Unicode" panose="020B0709000202000203" pitchFamily="49" charset="0"/>
              </a:rPr>
              <a:t>;</a:t>
            </a:r>
            <a:r>
              <a:rPr lang="en-GB" dirty="0" err="1">
                <a:solidFill>
                  <a:srgbClr val="808080"/>
                </a:solidFill>
                <a:effectLst/>
                <a:latin typeface="APL385 Unicode" panose="020B0709000202000203" pitchFamily="49" charset="0"/>
              </a:rPr>
              <a:t>job</a:t>
            </a:r>
            <a:br>
              <a:rPr lang="en-GB" dirty="0">
                <a:effectLst/>
                <a:latin typeface="APL385 Unicode" panose="020B0709000202000203" pitchFamily="49" charset="0"/>
              </a:rPr>
            </a:br>
            <a:r>
              <a:rPr lang="en-GB" dirty="0">
                <a:effectLst/>
                <a:latin typeface="APL385 Unicode" panose="020B0709000202000203" pitchFamily="49" charset="0"/>
              </a:rPr>
              <a:t>  </a:t>
            </a:r>
            <a:r>
              <a:rPr lang="en-GB" dirty="0">
                <a:solidFill>
                  <a:srgbClr val="800000"/>
                </a:solidFill>
                <a:effectLst/>
                <a:latin typeface="APL385 Unicode" panose="020B0709000202000203" pitchFamily="49" charset="0"/>
              </a:rPr>
              <a:t>:While</a:t>
            </a: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ON</a:t>
            </a:r>
            <a:br>
              <a:rPr lang="en-GB" dirty="0">
                <a:effectLst/>
                <a:latin typeface="APL385 Unicode" panose="020B0709000202000203" pitchFamily="49" charset="0"/>
              </a:rPr>
            </a:br>
            <a:r>
              <a:rPr lang="en-GB" dirty="0">
                <a:effectLst/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808080"/>
                </a:solidFill>
                <a:effectLst/>
                <a:latin typeface="APL385 Unicode" panose="020B0709000202000203" pitchFamily="49" charset="0"/>
              </a:rPr>
              <a:t>job</a:t>
            </a:r>
            <a:r>
              <a:rPr lang="en-GB" dirty="0">
                <a:solidFill>
                  <a:srgbClr val="0000FF"/>
                </a:solidFill>
                <a:effectLst/>
                <a:latin typeface="APL385 Unicode" panose="020B0709000202000203" pitchFamily="49" charset="0"/>
              </a:rPr>
              <a:t>←</a:t>
            </a:r>
            <a:r>
              <a:rPr lang="en-GB" dirty="0">
                <a:solidFill>
                  <a:srgbClr val="000080"/>
                </a:solidFill>
                <a:effectLst/>
                <a:latin typeface="APL385 Unicode" panose="020B0709000202000203" pitchFamily="49" charset="0"/>
              </a:rPr>
              <a:t>⎕TGET</a:t>
            </a: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TOK</a:t>
            </a:r>
            <a:br>
              <a:rPr lang="en-GB" dirty="0">
                <a:effectLst/>
                <a:latin typeface="APL385 Unicode" panose="020B0709000202000203" pitchFamily="49" charset="0"/>
              </a:rPr>
            </a:br>
            <a:r>
              <a:rPr lang="en-GB" dirty="0">
                <a:effectLst/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Process </a:t>
            </a:r>
            <a:r>
              <a:rPr lang="en-GB" dirty="0">
                <a:solidFill>
                  <a:srgbClr val="808080"/>
                </a:solidFill>
                <a:effectLst/>
                <a:latin typeface="APL385 Unicode" panose="020B0709000202000203" pitchFamily="49" charset="0"/>
              </a:rPr>
              <a:t>job</a:t>
            </a:r>
            <a:br>
              <a:rPr lang="en-GB" dirty="0">
                <a:effectLst/>
                <a:latin typeface="APL385 Unicode" panose="020B0709000202000203" pitchFamily="49" charset="0"/>
              </a:rPr>
            </a:br>
            <a:r>
              <a:rPr lang="en-GB" dirty="0">
                <a:effectLst/>
                <a:latin typeface="APL385 Unicode" panose="020B0709000202000203" pitchFamily="49" charset="0"/>
              </a:rPr>
              <a:t>  </a:t>
            </a:r>
            <a:r>
              <a:rPr lang="en-GB" dirty="0">
                <a:solidFill>
                  <a:srgbClr val="800000"/>
                </a:solidFill>
                <a:effectLst/>
                <a:latin typeface="APL385 Unicode" panose="020B0709000202000203" pitchFamily="49" charset="0"/>
              </a:rPr>
              <a:t>:</a:t>
            </a:r>
            <a:r>
              <a:rPr lang="en-GB" dirty="0" err="1">
                <a:solidFill>
                  <a:srgbClr val="800000"/>
                </a:solidFill>
                <a:effectLst/>
                <a:latin typeface="APL385 Unicode" panose="020B0709000202000203" pitchFamily="49" charset="0"/>
              </a:rPr>
              <a:t>EndWhile</a:t>
            </a:r>
            <a:r>
              <a:rPr lang="en-GB" dirty="0">
                <a:latin typeface="Courier New" panose="02070309020205020404" pitchFamily="49" charset="0"/>
              </a:rPr>
              <a:t> </a:t>
            </a:r>
            <a:br>
              <a:rPr lang="en-GB" dirty="0">
                <a:latin typeface="Courier New" panose="02070309020205020404" pitchFamily="49" charset="0"/>
              </a:rPr>
            </a:br>
            <a:r>
              <a:rPr lang="en-GB" dirty="0">
                <a:solidFill>
                  <a:srgbClr val="000000"/>
                </a:solidFill>
                <a:latin typeface="APL385 Unicode" panose="020B0709000202000203" pitchFamily="49" charset="0"/>
              </a:rPr>
              <a:t>∇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9832969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6F64415-33E9-7C04-3E89-5243D66691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Token releases on exit from :Hold structure</a:t>
            </a:r>
          </a:p>
          <a:p>
            <a:pPr lvl="1"/>
            <a:r>
              <a:rPr lang="en-GB" dirty="0"/>
              <a:t>Even if the thread dies</a:t>
            </a:r>
          </a:p>
          <a:p>
            <a:r>
              <a:rPr lang="en-GB" dirty="0"/>
              <a:t>Token pool has no such guarantees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F5B21B8-2B99-2D3B-CA8E-7DC5E1154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PL385 Unicode" panose="020B0709000202000203" pitchFamily="49" charset="0"/>
              </a:rPr>
              <a:t>:Hold</a:t>
            </a:r>
            <a:r>
              <a:rPr lang="en-GB" dirty="0"/>
              <a:t> vs </a:t>
            </a:r>
            <a:r>
              <a:rPr lang="en-GB" dirty="0">
                <a:latin typeface="APL385 Unicode" panose="020B0709000202000203" pitchFamily="49" charset="0"/>
              </a:rPr>
              <a:t>⎕TPOOL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19C509B-295F-3E81-732D-72EB38209CA3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618694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CCFABFF-2DE9-2FBE-FF77-47665CF2F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Word Search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DCC004F-0EC1-5EEB-7BBD-572EA164E2F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BFE1EC-EE0A-65AC-BA16-5D86433CC6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6" y="1488989"/>
            <a:ext cx="8700157" cy="301797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effectLst/>
                <a:latin typeface="APL385 Unicode" panose="020B0709000202000203" pitchFamily="49" charset="0"/>
              </a:rPr>
              <a:t>   ]get -u github.com/</a:t>
            </a:r>
            <a:r>
              <a:rPr lang="en-GB" dirty="0" err="1">
                <a:effectLst/>
                <a:latin typeface="APL385 Unicode" panose="020B0709000202000203" pitchFamily="49" charset="0"/>
              </a:rPr>
              <a:t>dyalog</a:t>
            </a:r>
            <a:r>
              <a:rPr lang="en-GB" dirty="0">
                <a:effectLst/>
                <a:latin typeface="APL385 Unicode" panose="020B0709000202000203" pitchFamily="49" charset="0"/>
              </a:rPr>
              <a:t>-training/2026-MA3</a:t>
            </a:r>
            <a:br>
              <a:rPr lang="en-GB" dirty="0">
                <a:effectLst/>
                <a:latin typeface="APL385 Unicode" panose="020B0709000202000203" pitchFamily="49" charset="0"/>
              </a:rPr>
            </a:br>
            <a:r>
              <a:rPr lang="en-GB" dirty="0">
                <a:effectLst/>
                <a:latin typeface="APL385 Unicode" panose="020B0709000202000203" pitchFamily="49" charset="0"/>
              </a:rPr>
              <a:t>#.Demos #.Performance #.Seats #.WordSearch</a:t>
            </a:r>
          </a:p>
          <a:p>
            <a:pPr marL="0" indent="0">
              <a:buNone/>
            </a:pPr>
            <a:r>
              <a:rPr lang="en-GB" dirty="0">
                <a:effectLst/>
                <a:latin typeface="APL385 Unicode" panose="020B0709000202000203" pitchFamily="49" charset="0"/>
              </a:rPr>
              <a:t>   ]map </a:t>
            </a:r>
            <a:r>
              <a:rPr lang="en-GB" dirty="0" err="1">
                <a:effectLst/>
                <a:latin typeface="APL385 Unicode" panose="020B0709000202000203" pitchFamily="49" charset="0"/>
              </a:rPr>
              <a:t>WordSearch</a:t>
            </a:r>
            <a:br>
              <a:rPr lang="en-GB" dirty="0">
                <a:effectLst/>
                <a:latin typeface="APL385 Unicode" panose="020B0709000202000203" pitchFamily="49" charset="0"/>
              </a:rPr>
            </a:br>
            <a:r>
              <a:rPr lang="en-GB" dirty="0">
                <a:effectLst/>
                <a:latin typeface="APL385 Unicode" panose="020B0709000202000203" pitchFamily="49" charset="0"/>
              </a:rPr>
              <a:t>#.WordSearch</a:t>
            </a:r>
            <a:br>
              <a:rPr lang="en-GB" dirty="0">
                <a:effectLst/>
                <a:latin typeface="APL385 Unicode" panose="020B0709000202000203" pitchFamily="49" charset="0"/>
              </a:rPr>
            </a:br>
            <a:r>
              <a:rPr lang="en-GB" dirty="0">
                <a:effectLst/>
                <a:latin typeface="APL385 Unicode" panose="020B0709000202000203" pitchFamily="49" charset="0"/>
              </a:rPr>
              <a:t>· ~ CORPUS</a:t>
            </a:r>
            <a:br>
              <a:rPr lang="en-GB" dirty="0">
                <a:effectLst/>
                <a:latin typeface="APL385 Unicode" panose="020B0709000202000203" pitchFamily="49" charset="0"/>
              </a:rPr>
            </a:br>
            <a:r>
              <a:rPr lang="en-GB" dirty="0">
                <a:effectLst/>
                <a:latin typeface="APL385 Unicode" panose="020B0709000202000203" pitchFamily="49" charset="0"/>
              </a:rPr>
              <a:t>· ∇ </a:t>
            </a:r>
            <a:r>
              <a:rPr lang="en-GB" dirty="0" err="1">
                <a:effectLst/>
                <a:latin typeface="APL385 Unicode" panose="020B0709000202000203" pitchFamily="49" charset="0"/>
              </a:rPr>
              <a:t>AddWords</a:t>
            </a:r>
            <a:r>
              <a:rPr lang="en-GB" dirty="0">
                <a:effectLst/>
                <a:latin typeface="APL385 Unicode" panose="020B0709000202000203" pitchFamily="49" charset="0"/>
              </a:rPr>
              <a:t> </a:t>
            </a:r>
            <a:r>
              <a:rPr lang="en-GB" dirty="0" err="1">
                <a:effectLst/>
                <a:latin typeface="APL385 Unicode" panose="020B0709000202000203" pitchFamily="49" charset="0"/>
              </a:rPr>
              <a:t>Dist</a:t>
            </a:r>
            <a:r>
              <a:rPr lang="en-GB" dirty="0">
                <a:effectLst/>
                <a:latin typeface="APL385 Unicode" panose="020B0709000202000203" pitchFamily="49" charset="0"/>
              </a:rPr>
              <a:t> </a:t>
            </a:r>
            <a:r>
              <a:rPr lang="en-GB" dirty="0" err="1">
                <a:effectLst/>
                <a:latin typeface="APL385 Unicode" panose="020B0709000202000203" pitchFamily="49" charset="0"/>
              </a:rPr>
              <a:t>ScenarioA</a:t>
            </a:r>
            <a:r>
              <a:rPr lang="en-GB" dirty="0">
                <a:effectLst/>
                <a:latin typeface="APL385 Unicode" panose="020B0709000202000203" pitchFamily="49" charset="0"/>
              </a:rPr>
              <a:t> Search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9300209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11A28-381A-77D2-8404-D793F225A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0127BD2-C891-3B7F-395C-BE73CE361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Word Search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DDB094A-5A29-6CF0-7672-3EDB6028677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3C426D-A08A-5F3D-F50D-4F2FCDF13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>
                <a:effectLst/>
                <a:latin typeface="APL385 Unicode" panose="020B0709000202000203" pitchFamily="49" charset="0"/>
              </a:rPr>
              <a:t>      (WORDS DIST)←''(0 0⍴0)</a:t>
            </a:r>
            <a:br>
              <a:rPr lang="en-GB" dirty="0">
                <a:effectLst/>
                <a:latin typeface="APL385 Unicode" panose="020B0709000202000203" pitchFamily="49" charset="0"/>
              </a:rPr>
            </a:br>
            <a:r>
              <a:rPr lang="en-GB" dirty="0">
                <a:effectLst/>
                <a:latin typeface="APL385 Unicode" panose="020B0709000202000203" pitchFamily="49" charset="0"/>
              </a:rPr>
              <a:t>      </a:t>
            </a:r>
            <a:r>
              <a:rPr lang="en-GB" dirty="0" err="1">
                <a:effectLst/>
                <a:latin typeface="APL385 Unicode" panose="020B0709000202000203" pitchFamily="49" charset="0"/>
              </a:rPr>
              <a:t>AddWords</a:t>
            </a:r>
            <a:r>
              <a:rPr lang="en-GB" dirty="0">
                <a:effectLst/>
                <a:latin typeface="APL385 Unicode" panose="020B0709000202000203" pitchFamily="49" charset="0"/>
              </a:rPr>
              <a:t> 'apple' 'bob' 'cob' 'sample'</a:t>
            </a:r>
            <a:br>
              <a:rPr lang="en-GB" dirty="0">
                <a:effectLst/>
                <a:latin typeface="APL385 Unicode" panose="020B0709000202000203" pitchFamily="49" charset="0"/>
              </a:rPr>
            </a:br>
            <a:r>
              <a:rPr lang="en-GB" dirty="0">
                <a:effectLst/>
                <a:latin typeface="APL385 Unicode" panose="020B0709000202000203" pitchFamily="49" charset="0"/>
              </a:rPr>
              <a:t>4 words added</a:t>
            </a:r>
            <a:br>
              <a:rPr lang="en-GB" dirty="0">
                <a:effectLst/>
                <a:latin typeface="APL385 Unicode" panose="020B0709000202000203" pitchFamily="49" charset="0"/>
              </a:rPr>
            </a:br>
            <a:r>
              <a:rPr lang="en-GB" dirty="0">
                <a:effectLst/>
                <a:latin typeface="APL385 Unicode" panose="020B0709000202000203" pitchFamily="49" charset="0"/>
              </a:rPr>
              <a:t>      </a:t>
            </a:r>
            <a:r>
              <a:rPr lang="en-GB" dirty="0" err="1">
                <a:effectLst/>
                <a:latin typeface="APL385 Unicode" panose="020B0709000202000203" pitchFamily="49" charset="0"/>
              </a:rPr>
              <a:t>AddWords</a:t>
            </a:r>
            <a:r>
              <a:rPr lang="en-GB" dirty="0">
                <a:effectLst/>
                <a:latin typeface="APL385 Unicode" panose="020B0709000202000203" pitchFamily="49" charset="0"/>
              </a:rPr>
              <a:t> 'apple' 'bob' 'cob' 'simple'</a:t>
            </a:r>
            <a:br>
              <a:rPr lang="en-GB" dirty="0">
                <a:effectLst/>
                <a:latin typeface="APL385 Unicode" panose="020B0709000202000203" pitchFamily="49" charset="0"/>
              </a:rPr>
            </a:br>
            <a:r>
              <a:rPr lang="en-GB" dirty="0">
                <a:effectLst/>
                <a:latin typeface="APL385 Unicode" panose="020B0709000202000203" pitchFamily="49" charset="0"/>
              </a:rPr>
              <a:t>1 words added</a:t>
            </a:r>
            <a:br>
              <a:rPr lang="en-GB" dirty="0">
                <a:effectLst/>
                <a:latin typeface="APL385 Unicode" panose="020B0709000202000203" pitchFamily="49" charset="0"/>
              </a:rPr>
            </a:br>
            <a:r>
              <a:rPr lang="en-GB" dirty="0">
                <a:effectLst/>
                <a:latin typeface="APL385 Unicode" panose="020B0709000202000203" pitchFamily="49" charset="0"/>
              </a:rPr>
              <a:t>      </a:t>
            </a:r>
            <a:r>
              <a:rPr lang="en-GB" dirty="0" err="1">
                <a:effectLst/>
                <a:latin typeface="APL385 Unicode" panose="020B0709000202000203" pitchFamily="49" charset="0"/>
              </a:rPr>
              <a:t>Search¨'apple</a:t>
            </a:r>
            <a:r>
              <a:rPr lang="en-GB" dirty="0">
                <a:effectLst/>
                <a:latin typeface="APL385 Unicode" panose="020B0709000202000203" pitchFamily="49" charset="0"/>
              </a:rPr>
              <a:t>' 'cob' 'unknown'</a:t>
            </a:r>
            <a:br>
              <a:rPr lang="en-GB" dirty="0">
                <a:effectLst/>
                <a:latin typeface="APL385 Unicode" panose="020B0709000202000203" pitchFamily="49" charset="0"/>
              </a:rPr>
            </a:br>
            <a:r>
              <a:rPr lang="en-GB" dirty="0">
                <a:effectLst/>
                <a:latin typeface="APL385 Unicode" panose="020B0709000202000203" pitchFamily="49" charset="0"/>
              </a:rPr>
              <a:t>┌──────┬───┬───────────────┐</a:t>
            </a:r>
            <a:br>
              <a:rPr lang="en-GB" dirty="0">
                <a:effectLst/>
                <a:latin typeface="APL385 Unicode" panose="020B0709000202000203" pitchFamily="49" charset="0"/>
              </a:rPr>
            </a:br>
            <a:r>
              <a:rPr lang="en-GB" dirty="0">
                <a:effectLst/>
                <a:latin typeface="APL385 Unicode" panose="020B0709000202000203" pitchFamily="49" charset="0"/>
              </a:rPr>
              <a:t>│</a:t>
            </a:r>
            <a:r>
              <a:rPr lang="en-GB" dirty="0" err="1">
                <a:effectLst/>
                <a:latin typeface="APL385 Unicode" panose="020B0709000202000203" pitchFamily="49" charset="0"/>
              </a:rPr>
              <a:t>sample│bob│Word</a:t>
            </a:r>
            <a:r>
              <a:rPr lang="en-GB" dirty="0">
                <a:effectLst/>
                <a:latin typeface="APL385 Unicode" panose="020B0709000202000203" pitchFamily="49" charset="0"/>
              </a:rPr>
              <a:t> not found.│</a:t>
            </a:r>
            <a:br>
              <a:rPr lang="en-GB" dirty="0">
                <a:effectLst/>
                <a:latin typeface="APL385 Unicode" panose="020B0709000202000203" pitchFamily="49" charset="0"/>
              </a:rPr>
            </a:br>
            <a:r>
              <a:rPr lang="en-GB" dirty="0">
                <a:effectLst/>
                <a:latin typeface="APL385 Unicode" panose="020B0709000202000203" pitchFamily="49" charset="0"/>
              </a:rPr>
              <a:t>└──────┴───┴───────────────┘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5720020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4A155-4A03-478A-E14A-A2481ED601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3238" y="2228983"/>
            <a:ext cx="2797524" cy="685535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GB" sz="4000" dirty="0"/>
              <a:t>Final Quiz</a:t>
            </a:r>
          </a:p>
        </p:txBody>
      </p:sp>
    </p:spTree>
    <p:extLst>
      <p:ext uri="{BB962C8B-B14F-4D97-AF65-F5344CB8AC3E}">
        <p14:creationId xmlns:p14="http://schemas.microsoft.com/office/powerpoint/2010/main" val="255607192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77F63-52E7-1175-6E4E-170D751DD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09F8230-FE6F-18FA-EAD7-CB751A80A4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What's the difference between</a:t>
            </a:r>
          </a:p>
          <a:p>
            <a:pPr marL="0" indent="0">
              <a:buNone/>
            </a:pPr>
            <a:r>
              <a:rPr lang="en-GB" dirty="0"/>
              <a:t>	</a:t>
            </a:r>
            <a:r>
              <a:rPr lang="en-GB" dirty="0">
                <a:latin typeface="APL385 Unicode" panose="020B0709000202000203" pitchFamily="49" charset="0"/>
              </a:rPr>
              <a:t>F&amp;¨1 2 3</a:t>
            </a:r>
          </a:p>
          <a:p>
            <a:pPr marL="0" indent="0">
              <a:buNone/>
            </a:pPr>
            <a:r>
              <a:rPr lang="en-GB" dirty="0"/>
              <a:t>and</a:t>
            </a:r>
          </a:p>
          <a:p>
            <a:pPr marL="0" indent="0">
              <a:buNone/>
            </a:pPr>
            <a:r>
              <a:rPr lang="en-GB" dirty="0"/>
              <a:t>	</a:t>
            </a:r>
            <a:r>
              <a:rPr lang="en-GB" dirty="0">
                <a:latin typeface="APL385 Unicode" panose="020B0709000202000203" pitchFamily="49" charset="0"/>
              </a:rPr>
              <a:t>F¨&amp;1 2 3</a:t>
            </a:r>
          </a:p>
          <a:p>
            <a:pPr marL="0" indent="0">
              <a:buNone/>
            </a:pPr>
            <a:r>
              <a:rPr lang="en-GB" dirty="0"/>
              <a:t>?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6B726B3-B781-EE7E-11F9-ACA476C3DBD3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715503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13146F5-0FBB-F10F-29B4-7EE513AEBB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Which finishes first, A or B?</a:t>
            </a:r>
          </a:p>
          <a:p>
            <a:pPr marL="457200" indent="-457200">
              <a:buFont typeface="+mj-lt"/>
              <a:buAutoNum type="alphaUcPeriod"/>
            </a:pPr>
            <a:r>
              <a:rPr lang="en-GB" dirty="0">
                <a:latin typeface="APL385 Unicode" panose="020B0709000202000203" pitchFamily="49" charset="0"/>
              </a:rPr>
              <a:t>r ← ⎕TSYNC </a:t>
            </a:r>
            <a:r>
              <a:rPr lang="en-GB" dirty="0" err="1">
                <a:latin typeface="APL385 Unicode" panose="020B0709000202000203" pitchFamily="49" charset="0"/>
              </a:rPr>
              <a:t>HttpCommand.Get</a:t>
            </a:r>
            <a:r>
              <a:rPr lang="en-GB" dirty="0">
                <a:latin typeface="APL385 Unicode" panose="020B0709000202000203" pitchFamily="49" charset="0"/>
              </a:rPr>
              <a:t>&amp;¨url1 url2 url3</a:t>
            </a:r>
          </a:p>
          <a:p>
            <a:pPr marL="457200" indent="-457200">
              <a:buFont typeface="+mj-lt"/>
              <a:buAutoNum type="alphaUcPeriod"/>
            </a:pPr>
            <a:r>
              <a:rPr lang="en-GB" dirty="0">
                <a:latin typeface="APL385 Unicode" panose="020B0709000202000203" pitchFamily="49" charset="0"/>
              </a:rPr>
              <a:t>r ←        </a:t>
            </a:r>
            <a:r>
              <a:rPr lang="en-GB" dirty="0" err="1">
                <a:latin typeface="APL385 Unicode" panose="020B0709000202000203" pitchFamily="49" charset="0"/>
              </a:rPr>
              <a:t>HttpCommand.Get</a:t>
            </a:r>
            <a:r>
              <a:rPr lang="en-GB" dirty="0">
                <a:latin typeface="APL385 Unicode" panose="020B0709000202000203" pitchFamily="49" charset="0"/>
              </a:rPr>
              <a:t>¨ url1 url2 url3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E3D4A64-7861-FD53-12D8-5C08C5463FA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292034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081CA-1103-2CF9-9AED-9BB7E0EE4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D0779E-EADA-63C4-67D4-756195963E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Which finishes first, A or B?</a:t>
            </a:r>
          </a:p>
          <a:p>
            <a:pPr marL="457200" indent="-457200">
              <a:buFont typeface="+mj-lt"/>
              <a:buAutoNum type="alphaUcPeriod"/>
            </a:pPr>
            <a:r>
              <a:rPr lang="en-GB" dirty="0">
                <a:latin typeface="APL385 Unicode" panose="020B0709000202000203" pitchFamily="49" charset="0"/>
              </a:rPr>
              <a:t>r ← ⎕TSYNC (+⌿÷≢)&amp;¨var1 var2 var3</a:t>
            </a:r>
          </a:p>
          <a:p>
            <a:pPr marL="457200" indent="-457200">
              <a:buFont typeface="+mj-lt"/>
              <a:buAutoNum type="alphaUcPeriod"/>
            </a:pPr>
            <a:r>
              <a:rPr lang="en-GB" dirty="0">
                <a:latin typeface="APL385 Unicode" panose="020B0709000202000203" pitchFamily="49" charset="0"/>
              </a:rPr>
              <a:t>r ←        (+⌿÷≢)¨ var1 var2 var3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3691406-0739-DD0D-F358-0AFD2965C6A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162679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E0882-441D-F80A-40AC-9EABD08C7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5CB9B78-3702-3218-89A1-0FA273B9A3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000000"/>
                </a:solidFill>
                <a:effectLst/>
                <a:latin typeface="+mj-lt"/>
              </a:rPr>
              <a:t>Why can this result in a </a:t>
            </a: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VALUE ERROR</a:t>
            </a:r>
            <a:r>
              <a:rPr lang="en-GB" dirty="0">
                <a:solidFill>
                  <a:srgbClr val="000000"/>
                </a:solidFill>
                <a:effectLst/>
                <a:latin typeface="+mj-lt"/>
              </a:rPr>
              <a:t>?</a:t>
            </a:r>
          </a:p>
          <a:p>
            <a:pPr marL="0" indent="0">
              <a:buNone/>
            </a:pP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     </a:t>
            </a:r>
            <a:r>
              <a:rPr lang="en-GB" dirty="0" err="1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tid</a:t>
            </a: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00FF"/>
                </a:solidFill>
                <a:effectLst/>
                <a:latin typeface="APL385 Unicode" panose="020B0709000202000203" pitchFamily="49" charset="0"/>
              </a:rPr>
              <a:t>←</a:t>
            </a: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</a:t>
            </a:r>
            <a:r>
              <a:rPr lang="en-GB" dirty="0" err="1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DoThing</a:t>
            </a:r>
            <a:r>
              <a:rPr lang="en-GB" dirty="0">
                <a:solidFill>
                  <a:srgbClr val="0000FF"/>
                </a:solidFill>
                <a:effectLst/>
                <a:latin typeface="APL385 Unicode" panose="020B0709000202000203" pitchFamily="49" charset="0"/>
              </a:rPr>
              <a:t>&amp;</a:t>
            </a: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</a:t>
            </a:r>
            <a:r>
              <a:rPr lang="en-GB" dirty="0" err="1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arg</a:t>
            </a:r>
            <a:br>
              <a:rPr lang="en-GB" dirty="0">
                <a:effectLst/>
                <a:latin typeface="APL385 Unicode" panose="020B0709000202000203" pitchFamily="49" charset="0"/>
              </a:rPr>
            </a:br>
            <a:r>
              <a:rPr lang="en-GB" dirty="0">
                <a:effectLst/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r </a:t>
            </a:r>
            <a:r>
              <a:rPr lang="en-GB" dirty="0">
                <a:solidFill>
                  <a:srgbClr val="0000FF"/>
                </a:solidFill>
                <a:effectLst/>
                <a:latin typeface="APL385 Unicode" panose="020B0709000202000203" pitchFamily="49" charset="0"/>
              </a:rPr>
              <a:t>←</a:t>
            </a: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0080"/>
                </a:solidFill>
                <a:effectLst/>
                <a:latin typeface="APL385 Unicode" panose="020B0709000202000203" pitchFamily="49" charset="0"/>
              </a:rPr>
              <a:t>⎕TSYNC</a:t>
            </a: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</a:t>
            </a:r>
            <a:r>
              <a:rPr lang="en-GB" dirty="0" err="1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tid</a:t>
            </a:r>
            <a:endParaRPr lang="en-GB" dirty="0">
              <a:solidFill>
                <a:srgbClr val="000000"/>
              </a:solidFill>
              <a:effectLst/>
              <a:latin typeface="APL385 Unicode" panose="020B0709000202000203" pitchFamily="49" charset="0"/>
            </a:endParaRP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DD4B607-8D06-5D3B-E315-75AF5FF0A91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1DD2C36-FC5F-E786-7EE3-B42B67367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503499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8F067-CF20-9DF2-93FE-59EB13698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39605E0-3153-5B87-8875-FAD16756F4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Is this a deadlock?</a:t>
            </a:r>
          </a:p>
          <a:p>
            <a:pPr marL="0" indent="0">
              <a:buNone/>
            </a:pPr>
            <a:r>
              <a:rPr lang="en-GB" dirty="0">
                <a:solidFill>
                  <a:srgbClr val="800000"/>
                </a:solidFill>
                <a:effectLst/>
                <a:latin typeface="APL385 Unicode" panose="020B0709000202000203" pitchFamily="49" charset="0"/>
              </a:rPr>
              <a:t>:Hold</a:t>
            </a: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8080"/>
                </a:solidFill>
                <a:effectLst/>
                <a:latin typeface="APL385 Unicode" panose="020B0709000202000203" pitchFamily="49" charset="0"/>
              </a:rPr>
              <a:t>'A'</a:t>
            </a: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8080"/>
                </a:solidFill>
                <a:effectLst/>
                <a:latin typeface="APL385 Unicode" panose="020B0709000202000203" pitchFamily="49" charset="0"/>
              </a:rPr>
              <a:t>'B'</a:t>
            </a:r>
            <a:b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   </a:t>
            </a:r>
            <a:r>
              <a:rPr lang="en-GB" dirty="0">
                <a:solidFill>
                  <a:srgbClr val="800000"/>
                </a:solidFill>
                <a:effectLst/>
                <a:latin typeface="APL385 Unicode" panose="020B0709000202000203" pitchFamily="49" charset="0"/>
              </a:rPr>
              <a:t>:Hold</a:t>
            </a: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8080"/>
                </a:solidFill>
                <a:effectLst/>
                <a:latin typeface="APL385 Unicode" panose="020B0709000202000203" pitchFamily="49" charset="0"/>
              </a:rPr>
              <a:t>'B'</a:t>
            </a:r>
            <a:b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       </a:t>
            </a:r>
            <a:r>
              <a:rPr lang="en-GB" dirty="0">
                <a:solidFill>
                  <a:srgbClr val="000080"/>
                </a:solidFill>
                <a:effectLst/>
                <a:latin typeface="APL385 Unicode" panose="020B0709000202000203" pitchFamily="49" charset="0"/>
              </a:rPr>
              <a:t>⎕</a:t>
            </a:r>
            <a:r>
              <a:rPr lang="en-GB" dirty="0">
                <a:solidFill>
                  <a:srgbClr val="0000FF"/>
                </a:solidFill>
                <a:effectLst/>
                <a:latin typeface="APL385 Unicode" panose="020B0709000202000203" pitchFamily="49" charset="0"/>
              </a:rPr>
              <a:t>←</a:t>
            </a:r>
            <a:r>
              <a:rPr lang="en-GB" dirty="0">
                <a:solidFill>
                  <a:srgbClr val="008080"/>
                </a:solidFill>
                <a:effectLst/>
                <a:latin typeface="APL385 Unicode" panose="020B0709000202000203" pitchFamily="49" charset="0"/>
              </a:rPr>
              <a:t>'uh oh'</a:t>
            </a:r>
            <a:b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  <a:t>    </a:t>
            </a:r>
            <a:r>
              <a:rPr lang="en-GB" dirty="0">
                <a:solidFill>
                  <a:srgbClr val="800000"/>
                </a:solidFill>
                <a:effectLst/>
                <a:latin typeface="APL385 Unicode" panose="020B0709000202000203" pitchFamily="49" charset="0"/>
              </a:rPr>
              <a:t>:</a:t>
            </a:r>
            <a:r>
              <a:rPr lang="en-GB" dirty="0" err="1">
                <a:solidFill>
                  <a:srgbClr val="800000"/>
                </a:solidFill>
                <a:effectLst/>
                <a:latin typeface="APL385 Unicode" panose="020B0709000202000203" pitchFamily="49" charset="0"/>
              </a:rPr>
              <a:t>EndHold</a:t>
            </a:r>
            <a:br>
              <a:rPr lang="en-GB" dirty="0">
                <a:solidFill>
                  <a:srgbClr val="000000"/>
                </a:solidFill>
                <a:effectLst/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800000"/>
                </a:solidFill>
                <a:effectLst/>
                <a:latin typeface="APL385 Unicode" panose="020B0709000202000203" pitchFamily="49" charset="0"/>
              </a:rPr>
              <a:t>:</a:t>
            </a:r>
            <a:r>
              <a:rPr lang="en-GB" dirty="0" err="1">
                <a:solidFill>
                  <a:srgbClr val="800000"/>
                </a:solidFill>
                <a:effectLst/>
                <a:latin typeface="APL385 Unicode" panose="020B0709000202000203" pitchFamily="49" charset="0"/>
              </a:rPr>
              <a:t>EndHold</a:t>
            </a:r>
            <a:r>
              <a:rPr lang="en-GB" dirty="0">
                <a:latin typeface="Courier New" panose="02070309020205020404" pitchFamily="49" charset="0"/>
              </a:rPr>
              <a:t> 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D87A859-A2C9-1690-C514-0FCB39E3B3A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900648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6634F91-A876-F0A2-016B-9AC943D4CA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12543" y="1222159"/>
            <a:ext cx="3284806" cy="3284806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AE94639D-8545-93D9-7F4B-5588DD1AB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Feedback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077AB10-C0D2-E658-843D-6D74500668E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859FC0D-61DF-B429-7858-6D9CA618AF16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924886" y="2502882"/>
            <a:ext cx="4783048" cy="486503"/>
          </a:xfrm>
        </p:spPr>
        <p:txBody>
          <a:bodyPr/>
          <a:lstStyle/>
          <a:p>
            <a:pPr marL="0" indent="0">
              <a:buNone/>
            </a:pPr>
            <a:r>
              <a:rPr lang="en-GB" dirty="0">
                <a:hlinkClick r:id="rId4" tooltip="https://dyalog.fillout.com/feedback"/>
              </a:rPr>
              <a:t>https://feedback.dyalog.com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302441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Dyalog 2025.6">
      <a:dk1>
        <a:srgbClr val="232222"/>
      </a:dk1>
      <a:lt1>
        <a:sysClr val="window" lastClr="FFFFFF"/>
      </a:lt1>
      <a:dk2>
        <a:srgbClr val="2A3244"/>
      </a:dk2>
      <a:lt2>
        <a:srgbClr val="F2F1F0"/>
      </a:lt2>
      <a:accent1>
        <a:srgbClr val="FF6A13"/>
      </a:accent1>
      <a:accent2>
        <a:srgbClr val="8986CA"/>
      </a:accent2>
      <a:accent3>
        <a:srgbClr val="003B5C"/>
      </a:accent3>
      <a:accent4>
        <a:srgbClr val="FFA300"/>
      </a:accent4>
      <a:accent5>
        <a:srgbClr val="CA2E51"/>
      </a:accent5>
      <a:accent6>
        <a:srgbClr val="FF6A13"/>
      </a:accent6>
      <a:hlink>
        <a:srgbClr val="FF6A13"/>
      </a:hlink>
      <a:folHlink>
        <a:srgbClr val="FF6A13"/>
      </a:folHlink>
    </a:clrScheme>
    <a:fontScheme name="Sarabun">
      <a:majorFont>
        <a:latin typeface="Sarabun"/>
        <a:ea typeface=""/>
        <a:cs typeface=""/>
      </a:majorFont>
      <a:minorFont>
        <a:latin typeface="Sarabu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yalog19_template_bold_calibri.potx" id="{F0C38D23-3AC9-47E9-8D0D-BEDB5EAFCAD2}" vid="{35320D08-F00A-4224-9D94-CDC48BBB4D0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9304</TotalTime>
  <Words>1793</Words>
  <Application>Microsoft Office PowerPoint</Application>
  <PresentationFormat>On-screen Show (16:9)</PresentationFormat>
  <Paragraphs>334</Paragraphs>
  <Slides>65</Slides>
  <Notes>16</Notes>
  <HiddenSlides>5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72" baseType="lpstr">
      <vt:lpstr>Calibri</vt:lpstr>
      <vt:lpstr>Courier New</vt:lpstr>
      <vt:lpstr>Sarabun</vt:lpstr>
      <vt:lpstr>Arial</vt:lpstr>
      <vt:lpstr>Wingdings 2</vt:lpstr>
      <vt:lpstr>APL385 Unicode</vt:lpstr>
      <vt:lpstr>Office Theme</vt:lpstr>
      <vt:lpstr>Concurrent Programming in Dyalog</vt:lpstr>
      <vt:lpstr>This workshop</vt:lpstr>
      <vt:lpstr>Concurrency &amp; Parallelism</vt:lpstr>
      <vt:lpstr>Recipe ≈ algorithm</vt:lpstr>
      <vt:lpstr>Recipe ≈ algorithm</vt:lpstr>
      <vt:lpstr>Concurrency vs Parallelism</vt:lpstr>
      <vt:lpstr>Concurrency vs Parallelism</vt:lpstr>
      <vt:lpstr>Learning Objectives</vt:lpstr>
      <vt:lpstr>When do we want concurrency?</vt:lpstr>
      <vt:lpstr>When do we want to implement concurrency?</vt:lpstr>
      <vt:lpstr>Green Threads</vt:lpstr>
      <vt:lpstr>Green Threads</vt:lpstr>
      <vt:lpstr>Futures and Isolates</vt:lpstr>
      <vt:lpstr>Industry Standard</vt:lpstr>
      <vt:lpstr>Further Reading</vt:lpstr>
      <vt:lpstr>Overview</vt:lpstr>
      <vt:lpstr>Results of Concurrent Calls</vt:lpstr>
      <vt:lpstr>Results of Concurrent Calls</vt:lpstr>
      <vt:lpstr>Results of Concurrent Calls</vt:lpstr>
      <vt:lpstr>Results of Concurrent Calls</vt:lpstr>
      <vt:lpstr>Parallelisation Performance</vt:lpstr>
      <vt:lpstr>Parallelisation Performance</vt:lpstr>
      <vt:lpstr>Parallelisation Performance</vt:lpstr>
      <vt:lpstr>Parallelisation Performance</vt:lpstr>
      <vt:lpstr>Parallelisation Performance</vt:lpstr>
      <vt:lpstr>Parallelisation Performance</vt:lpstr>
      <vt:lpstr>Parallelisation Performance</vt:lpstr>
      <vt:lpstr>APL Thread Safety</vt:lpstr>
      <vt:lpstr>APL Thread Safety</vt:lpstr>
      <vt:lpstr>Isolates &amp; Green Threads</vt:lpstr>
      <vt:lpstr>Isolates &amp; Green Threads</vt:lpstr>
      <vt:lpstr>Isolates &amp; Green Threads</vt:lpstr>
      <vt:lpstr>Isolates &amp; Green Threads</vt:lpstr>
      <vt:lpstr>Isolates &amp; Green Threads</vt:lpstr>
      <vt:lpstr>Spawn (&amp;)</vt:lpstr>
      <vt:lpstr>Shared State</vt:lpstr>
      <vt:lpstr>:Hold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Thread Management</vt:lpstr>
      <vt:lpstr>Thread Switching</vt:lpstr>
      <vt:lpstr>Shared State &amp; Holds</vt:lpstr>
      <vt:lpstr>PowerPoint Presentation</vt:lpstr>
      <vt:lpstr>Sharing Between Threads</vt:lpstr>
      <vt:lpstr>Synchronisation Strategies</vt:lpstr>
      <vt:lpstr>Synchronisation Strategies</vt:lpstr>
      <vt:lpstr>Synchronisation Strategies</vt:lpstr>
      <vt:lpstr>Token Pool</vt:lpstr>
      <vt:lpstr>Queue</vt:lpstr>
      <vt:lpstr>:Hold vs ⎕TPOOL</vt:lpstr>
      <vt:lpstr>Word Search</vt:lpstr>
      <vt:lpstr>Word Search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Feedback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Fiona Smith</dc:creator>
  <cp:lastModifiedBy>Rich Park</cp:lastModifiedBy>
  <cp:revision>424</cp:revision>
  <dcterms:created xsi:type="dcterms:W3CDTF">2019-07-25T11:46:05Z</dcterms:created>
  <dcterms:modified xsi:type="dcterms:W3CDTF">2026-10-07T12:25:53Z</dcterms:modified>
</cp:coreProperties>
</file>